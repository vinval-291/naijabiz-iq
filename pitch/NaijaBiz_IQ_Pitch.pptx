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7533a091-ca2d-636d-d6ff-c48f1b99cf78}">
          <p14:sldIdLst>
            <p14:sldId id="256"/>
            <p14:sldId id="257"/>
            <p14:sldId id="258"/>
          </p14:sldIdLst>
        </p14:section>
        <p14:section name="The solution" id="{67b406cf-13ab-474a-37ac-4bc5a4811bc4}">
          <p14:sldIdLst>
            <p14:sldId id="259"/>
            <p14:sldId id="260"/>
          </p14:sldIdLst>
        </p14:section>
        <p14:section name="The product" id="{bc16b28c-67a2-22d5-bf46-aedc84413d2b}">
          <p14:sldIdLst>
            <p14:sldId id="261"/>
            <p14:sldId id="262"/>
            <p14:sldId id="263"/>
          </p14:sldIdLst>
        </p14:section>
        <p14:section name="Why it matters" id="{de718b54-922a-18b6-2a3e-39dcc2b48991}">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[team name]. This is NaijaBiz IQ.
On the right are three real lines from a small business's Wema statement. On their own they say almost nothing: a reference number, a settlement, a card purchase. NaijaBiz IQ reads each line and works out what it means. When it isn't sure, it asks instead of guessing.
That is the whole idea in one picture: Wema already has the transactions; we turn them into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money comes in and goes out of a small business. The owner can see the balance, but the balance doesn't answer the questions that matter.
Read the four questions. These are the questions a small business owner asks every week, and today the answer is a guess.
The data to answer them already exists: it's in the bank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Aisha. She runs Aisha Mini Mart in Bodija, Ibadan, with two staff. Her sales have grown from about 2.2 million naira a month in April to 2.76 million in September.
Good news, right? But look at the right: her sales grew 12% over three months, and yet her cash balance fell 22% in September alone.
She can see her balance going down. She can't see why. That's the question NaijaBiz IQ answers.
(If asked: Aisha is a persona; her six months of transactions are a realistic demo dataset, and every number in this presentation is computed by the prototype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NaijaBiz IQ is a financial intelligence layer. It doesn't ask Aisha to keep books or type anything in. It reads the transactions Wema already has and answers five kinds of question.
Understand: what is happening. Predict: what is likely to happen. Advise: what to do. Decide: can I afford this. And get ready: is my business building the habits that lead to healthy growth.
Importantly, this is not accounting software and not another chatbot. It sits on top of the account she already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all automatic.
One: read the transactions — for Aisha, 247 over six months. Two: categorize each one using its description, who it was paid to, when, and whether it repeats. It gets 97.6% right on this data, and when it isn't sure it asks Aisha instead of guessing. Three: calculate sales, spending, cash flow and a minimum cash reserve, to the naira. Four: forecast her cash day by day for the next two weeks. Five: advise — ranked actions and a Business Health Score. Six: decide — can she afford what she's planning?
One design rule matters: the engine does all the maths. The plain-language layer only explains, and every number in an explanation is checked against the engine, so it can never invent a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here if possible — DEMO.md steps 2 to 6. If not, use this slide.]
This is what Aisha sees. The first thing on her screen is not a table of numbers; it's the answer to "why is my cash going down?": her sales grew 12%, but her stock purchases grew 31%. She's buying stock faster than she sells it.
Her Business Health Score has fallen from 84 at the end of June to 66 today — still healthy, but slipping, and it tells her which areas are weakest.
The forecast warns that her cash will likely be at its lowest, about 393 thousand naira, around 12 October, when two supplier payments fall due.
And it learns: seven transactions it couldn't identify; she answers one — "that card purchase was generator fuel" — and it recognises four similar ones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that matters most. Aisha wants to buy 300 thousand naira of stock. Can she afford it?
[Live: type 300000, tap Check.]
NaijaBiz IQ says: you can, but be careful. Here's why, in plain sums: she has 580 thousand today. The purchase takes 300. Based on her regular payments and recent spending, she's expected to need another 187 thousand over the next two weeks. That leaves 93 thousand — below the 180 thousand we suggest she keeps for ten days of running costs.
So it doesn't just say yes or no; it gives her a safer amount: 180 to 210 thousand. [Tap "Check ₦210K instead".] At 210, the answer is: yes, comfortably.
That's the whole pipeline — transactions, analysis, forecast, risk, recommendation — ending in a business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mock-up. Everything you've seen runs on a working engine.
It reads 247 transactions in seconds. It categorizes them 97.6% correctly on this data, and it has zero confident mistakes: whenever it isn't sure, it asks. It sees cash pressure two weeks ahead. And 100% of the numbers in its explanations are checked against the engine, so it never makes up a figure.
It also works offline, it's built for phones first because that's how small business owners bank, it passes an accessibility scan, and it's covered by 94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to Wema?
First, engagement: a balance is something you check; answers are something you come back for every week.
Second, healthier customers: an owner who sees cash pressure two weeks early can act before it becomes a crisis.
Third, with the customer's consent, Wema gets a clearer picture of how its small business customers are really doing.
And fourth, a responsible path to products. The readiness profile shows healthy financial habits. It never approves a loan by itself, but it can show when a business is ready for a conversation about more.
To be clear about the prototype: the Wema connection is simulated with demo data. In production, Aisha connects her account once, with consent, and NaijaBiz IQ stays up to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go after the hackathon?
Next: go live — a real Wema connection with the customer's consent, transactions syncing continuously, and categorization that learns each business.
Then: go deeper — supplier and stock insights, scenario planning like "can I afford to hire someone?", and benchmarks against similar businesses.
Later: grow with Wema — personalized services, responsible financing pathways built on readiness, and ongoing financial coaching for small business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Aisha didn't need another app to type numbers into. She needed someone to tell her what her own transactions meant: that she was buying stock faster than she was selling it, that her cash would be tight around the 12th, and that 300 thousand was too much right now but 210 was fine.
This isn't just a dashboard. It's a financial intelligence layer that helps a small business owner understand what is happening, see what is coming, and make better decisions.
Wema already has the transactions. NaijaBiz IQ turns those transactions into intelligence.
Thank you — we'd love your questions. [Likely questions and answers are in DEMO.md.]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B0F2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8F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rtlCol="0"/>
          <a:lstStyle>
            <a:lvl1pPr algn="l" indent="0" marL="0">
              <a:buNone/>
              <a:defRPr lang="en-US" sz="3400" b="1" dirty="0">
                <a:solidFill>
                  <a:schemeClr val="tx1"/>
                </a:solidFill>
                <a:latin typeface="Century Gothic" pitchFamily="34" charset="0"/>
                <a:ea typeface="Century Gothic" pitchFamily="34" charset="-122"/>
                <a:cs typeface="Century Gothic" pitchFamily="34" charset="-120"/>
              </a:defRPr>
            </a:lvl1pPr>
          </a:lstStyle>
          <a:p>
            <a:pPr algn="l" indent="0" marL="0">
              <a:buNone/>
            </a:pPr>
            <a:endParaRPr lang="en-US" sz="3400" dirty="0"/>
          </a:p>
        </p:txBody>
      </p:sp>
      <p:sp>
        <p:nvSpPr>
          <p:cNvPr id="4" name="Text 0"/>
          <p:cNvSpPr/>
          <p:nvPr/>
        </p:nvSpPr>
        <p:spPr>
          <a:xfrm>
            <a:off x="685800" y="6263640"/>
            <a:ext cx="7315200" cy="320040"/>
          </a:xfrm>
          <a:prstGeom prst="rect">
            <a:avLst/>
          </a:prstGeom>
          <a:noFill/>
          <a:ln/>
        </p:spPr>
        <p:txBody>
          <a:bodyPr wrap="square" lIns="0" tIns="0" rIns="0" bIns="0" rtlCol="0" anchor="ctr"/>
          <a:lstStyle/>
          <a:p>
            <a:pPr indent="0" marL="0">
              <a:buNone/>
            </a:pPr>
            <a:r>
              <a:rPr lang="en-US" sz="1200" dirty="0">
                <a:solidFill>
                  <a:srgbClr val="6E6370"/>
                </a:solidFill>
              </a:rPr>
              <a:t>NaijaBiz IQ · Wema Hackaholics 7.0</a:t>
            </a:r>
            <a:endParaRPr lang="en-US" sz="12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tint">
    <p:bg>
      <p:bgPr>
        <a:solidFill>
          <a:srgbClr val="F4EDF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rtlCol="0"/>
          <a:lstStyle>
            <a:lvl1pPr algn="l" indent="0" marL="0">
              <a:buNone/>
              <a:defRPr lang="en-US" sz="3400" b="1" dirty="0">
                <a:solidFill>
                  <a:schemeClr val="tx1"/>
                </a:solidFill>
                <a:latin typeface="Century Gothic" pitchFamily="34" charset="0"/>
                <a:ea typeface="Century Gothic" pitchFamily="34" charset="-122"/>
                <a:cs typeface="Century Gothic" pitchFamily="34" charset="-120"/>
              </a:defRPr>
            </a:lvl1pPr>
          </a:lstStyle>
          <a:p>
            <a:pPr algn="l" indent="0" marL="0">
              <a:buNone/>
            </a:pPr>
            <a:endParaRPr lang="en-US" sz="3400" dirty="0"/>
          </a:p>
        </p:txBody>
      </p:sp>
      <p:sp>
        <p:nvSpPr>
          <p:cNvPr id="4" name="Text 0"/>
          <p:cNvSpPr/>
          <p:nvPr/>
        </p:nvSpPr>
        <p:spPr>
          <a:xfrm>
            <a:off x="685800" y="6263640"/>
            <a:ext cx="7315200" cy="320040"/>
          </a:xfrm>
          <a:prstGeom prst="rect">
            <a:avLst/>
          </a:prstGeom>
          <a:noFill/>
          <a:ln/>
        </p:spPr>
        <p:txBody>
          <a:bodyPr wrap="square" lIns="0" tIns="0" rIns="0" bIns="0" rtlCol="0" anchor="ctr"/>
          <a:lstStyle/>
          <a:p>
            <a:pPr indent="0" marL="0">
              <a:buNone/>
            </a:pPr>
            <a:r>
              <a:rPr lang="en-US" sz="1200" dirty="0">
                <a:solidFill>
                  <a:srgbClr val="6E6370"/>
                </a:solidFill>
              </a:rPr>
              <a:t>NaijaBiz IQ · Wema Hackaholics 7.0</a:t>
            </a:r>
            <a:endParaRPr lang="en-US" sz="12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rgbClr val="981D8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rtlCol="0"/>
          <a:lstStyle>
            <a:lvl1pPr indent="0" marL="0">
              <a:buNone/>
              <a:defRPr lang="en-US" sz="1400" b="1" spc="200" kern="0" dirty="0">
                <a:solidFill>
                  <a:srgbClr val="F6D9F0"/>
                </a:solidFill>
              </a:defRPr>
            </a:lvl1pPr>
          </a:lstStyle>
          <a:p>
            <a:pPr indent="0" marL="0">
              <a:buNone/>
            </a:pP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rtlCol="0"/>
          <a:lstStyle>
            <a:lvl1pPr algn="l" indent="0" marL="0">
              <a:buNone/>
              <a:defRPr lang="en-US" sz="3400" b="1" dirty="0">
                <a:solidFill>
                  <a:schemeClr val="bg1"/>
                </a:solidFill>
                <a:latin typeface="Century Gothic" pitchFamily="34" charset="0"/>
                <a:ea typeface="Century Gothic" pitchFamily="34" charset="-122"/>
                <a:cs typeface="Century Gothic" pitchFamily="34" charset="-120"/>
              </a:defRPr>
            </a:lvl1pPr>
          </a:lstStyle>
          <a:p>
            <a:pPr algn="l" indent="0" marL="0">
              <a:buNone/>
            </a:pPr>
            <a:endParaRPr lang="en-US" sz="3400" dirty="0"/>
          </a:p>
        </p:txBody>
      </p:sp>
      <p:sp>
        <p:nvSpPr>
          <p:cNvPr id="4" name="Text 0"/>
          <p:cNvSpPr/>
          <p:nvPr/>
        </p:nvSpPr>
        <p:spPr>
          <a:xfrm>
            <a:off x="685800" y="6263640"/>
            <a:ext cx="7315200" cy="320040"/>
          </a:xfrm>
          <a:prstGeom prst="rect">
            <a:avLst/>
          </a:prstGeom>
          <a:noFill/>
          <a:ln/>
        </p:spPr>
        <p:txBody>
          <a:bodyPr wrap="square" lIns="0" tIns="0" rIns="0" bIns="0" rtlCol="0" anchor="ctr"/>
          <a:lstStyle/>
          <a:p>
            <a:pPr indent="0" marL="0">
              <a:buNone/>
            </a:pPr>
            <a:r>
              <a:rPr lang="en-US" sz="1200" dirty="0">
                <a:solidFill>
                  <a:srgbClr val="F6D9F0"/>
                </a:solidFill>
              </a:rPr>
              <a:t>NaijaBiz IQ · Wema Hackaholics 7.0</a:t>
            </a:r>
            <a:endParaRPr lang="en-US" sz="12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F6D9F0"/>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e">
    <p:bg>
      <p:bgPr>
        <a:solidFill>
          <a:srgbClr val="2B0F2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6.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NaijaBiz IQ logo">    </p:cNvPr>
          <p:cNvPicPr>
            <a:picLocks noChangeAspect="1"/>
          </p:cNvPicPr>
          <p:nvPr/>
        </p:nvPicPr>
        <p:blipFill>
          <a:blip r:embed="rId1"/>
          <a:stretch>
            <a:fillRect/>
          </a:stretch>
        </p:blipFill>
        <p:spPr>
          <a:xfrm>
            <a:off x="685800" y="868680"/>
            <a:ext cx="777240" cy="777240"/>
          </a:xfrm>
          <a:prstGeom prst="rect">
            <a:avLst/>
          </a:prstGeom>
        </p:spPr>
      </p:pic>
      <p:sp>
        <p:nvSpPr>
          <p:cNvPr id="3" name="Title"/>
          <p:cNvSpPr txBox="1"/>
          <p:nvPr/>
        </p:nvSpPr>
        <p:spPr>
          <a:xfrm>
            <a:off x="685800" y="1874520"/>
            <a:ext cx="6035040" cy="1005840"/>
          </a:xfrm>
          <a:prstGeom prst="rect">
            <a:avLst/>
          </a:prstGeom>
          <a:noFill/>
          <a:ln/>
        </p:spPr>
        <p:txBody>
          <a:bodyPr wrap="square" lIns="0" tIns="0" rIns="0" bIns="0" rtlCol="0" anchor="ctr"/>
          <a:lstStyle/>
          <a:p>
            <a:pPr indent="0" marL="0">
              <a:buNone/>
            </a:pPr>
            <a:r>
              <a:rPr lang="en-US" sz="6000" b="1" dirty="0">
                <a:solidFill>
                  <a:schemeClr val="bg1"/>
                </a:solidFill>
                <a:latin typeface="Century Gothic" pitchFamily="34" charset="0"/>
                <a:ea typeface="Century Gothic" pitchFamily="34" charset="-122"/>
                <a:cs typeface="Century Gothic" pitchFamily="34" charset="-120"/>
              </a:rPr>
              <a:t>NaijaBiz </a:t>
            </a:r>
            <a:pPr indent="0" marL="0">
              <a:buNone/>
            </a:pPr>
            <a:r>
              <a:rPr lang="en-US" sz="6000" b="1" dirty="0">
                <a:solidFill>
                  <a:schemeClr val="accent2"/>
                </a:solidFill>
                <a:latin typeface="Century Gothic" pitchFamily="34" charset="0"/>
                <a:ea typeface="Century Gothic" pitchFamily="34" charset="-122"/>
                <a:cs typeface="Century Gothic" pitchFamily="34" charset="-120"/>
              </a:rPr>
              <a:t>IQ</a:t>
            </a:r>
            <a:endParaRPr lang="en-US" sz="6000" dirty="0"/>
          </a:p>
        </p:txBody>
      </p:sp>
      <p:sp>
        <p:nvSpPr>
          <p:cNvPr id="4" name="Subtitle"/>
          <p:cNvSpPr txBox="1"/>
          <p:nvPr/>
        </p:nvSpPr>
        <p:spPr>
          <a:xfrm>
            <a:off x="685800" y="3017520"/>
            <a:ext cx="5669280" cy="1097280"/>
          </a:xfrm>
          <a:prstGeom prst="rect">
            <a:avLst/>
          </a:prstGeom>
          <a:noFill/>
          <a:ln/>
        </p:spPr>
        <p:txBody>
          <a:bodyPr wrap="square" lIns="0" tIns="0" rIns="0" bIns="0" rtlCol="0" anchor="t"/>
          <a:lstStyle/>
          <a:p>
            <a:pPr indent="0" marL="0">
              <a:buNone/>
            </a:pPr>
            <a:r>
              <a:rPr lang="en-US" sz="2200" dirty="0">
                <a:solidFill>
                  <a:srgbClr val="E9D7E6"/>
                </a:solidFill>
              </a:rPr>
              <a:t>Financial intelligence for Nigerian small businesses, built on Wema transactions.</a:t>
            </a:r>
            <a:endParaRPr lang="en-US" sz="2200" dirty="0"/>
          </a:p>
        </p:txBody>
      </p:sp>
      <p:sp>
        <p:nvSpPr>
          <p:cNvPr id="5" name="Event"/>
          <p:cNvSpPr txBox="1"/>
          <p:nvPr/>
        </p:nvSpPr>
        <p:spPr>
          <a:xfrm>
            <a:off x="685800" y="4343400"/>
            <a:ext cx="5852160" cy="365760"/>
          </a:xfrm>
          <a:prstGeom prst="rect">
            <a:avLst/>
          </a:prstGeom>
          <a:noFill/>
          <a:ln/>
        </p:spPr>
        <p:txBody>
          <a:bodyPr wrap="square" lIns="0" tIns="0" rIns="0" bIns="0" rtlCol="0" anchor="t"/>
          <a:lstStyle/>
          <a:p>
            <a:pPr indent="0" marL="0">
              <a:buNone/>
            </a:pPr>
            <a:r>
              <a:rPr lang="en-US" sz="1400" dirty="0">
                <a:solidFill>
                  <a:srgbClr val="CDB8CA"/>
                </a:solidFill>
              </a:rPr>
              <a:t>Wema Hackaholics 7.0 · University of Ibadan · 7–9 October 2026</a:t>
            </a:r>
            <a:endParaRPr lang="en-US" sz="1400" dirty="0"/>
          </a:p>
        </p:txBody>
      </p:sp>
      <p:sp>
        <p:nvSpPr>
          <p:cNvPr id="6" name="Team"/>
          <p:cNvSpPr txBox="1"/>
          <p:nvPr/>
        </p:nvSpPr>
        <p:spPr>
          <a:xfrm>
            <a:off x="685800" y="4709160"/>
            <a:ext cx="5852160" cy="365760"/>
          </a:xfrm>
          <a:prstGeom prst="rect">
            <a:avLst/>
          </a:prstGeom>
          <a:noFill/>
          <a:ln/>
        </p:spPr>
        <p:txBody>
          <a:bodyPr wrap="square" lIns="0" tIns="0" rIns="0" bIns="0" rtlCol="0" anchor="t"/>
          <a:lstStyle/>
          <a:p>
            <a:pPr indent="0" marL="0">
              <a:buNone/>
            </a:pPr>
            <a:r>
              <a:rPr lang="en-US" sz="1400" dirty="0">
                <a:solidFill>
                  <a:srgbClr val="CDB8CA"/>
                </a:solidFill>
              </a:rPr>
              <a:t>[Team name] · [Presenter names]</a:t>
            </a:r>
            <a:endParaRPr lang="en-US" sz="1400" dirty="0"/>
          </a:p>
        </p:txBody>
      </p:sp>
      <p:sp>
        <p:nvSpPr>
          <p:cNvPr id="7" name="Statement card"/>
          <p:cNvSpPr/>
          <p:nvPr/>
        </p:nvSpPr>
        <p:spPr>
          <a:xfrm>
            <a:off x="6903720" y="914400"/>
            <a:ext cx="4599432" cy="4846320"/>
          </a:xfrm>
          <a:prstGeom prst="roundRect">
            <a:avLst>
              <a:gd name="adj" fmla="val 3181"/>
            </a:avLst>
          </a:prstGeom>
          <a:solidFill>
            <a:srgbClr val="3D1A3A"/>
          </a:solidFill>
          <a:ln w="12700">
            <a:solidFill>
              <a:srgbClr val="5A2E56"/>
            </a:solidFill>
            <a:prstDash val="solid"/>
          </a:ln>
        </p:spPr>
      </p:sp>
      <p:sp>
        <p:nvSpPr>
          <p:cNvPr id="8" name="Statement label"/>
          <p:cNvSpPr txBox="1"/>
          <p:nvPr/>
        </p:nvSpPr>
        <p:spPr>
          <a:xfrm>
            <a:off x="7223760" y="1188720"/>
            <a:ext cx="4023360" cy="320040"/>
          </a:xfrm>
          <a:prstGeom prst="rect">
            <a:avLst/>
          </a:prstGeom>
          <a:noFill/>
          <a:ln/>
        </p:spPr>
        <p:txBody>
          <a:bodyPr wrap="square" lIns="0" tIns="0" rIns="0" bIns="0" rtlCol="0" anchor="t"/>
          <a:lstStyle/>
          <a:p>
            <a:pPr indent="0" marL="0">
              <a:buNone/>
            </a:pPr>
            <a:r>
              <a:rPr lang="en-US" sz="1200" spc="200" kern="0" dirty="0">
                <a:solidFill>
                  <a:srgbClr val="CDB8CA"/>
                </a:solidFill>
                <a:latin typeface="Consolas" pitchFamily="34" charset="0"/>
                <a:ea typeface="Consolas" pitchFamily="34" charset="-122"/>
                <a:cs typeface="Consolas" pitchFamily="34" charset="-120"/>
              </a:rPr>
              <a:t>WEMA BUSINESS ACCOUNT</a:t>
            </a:r>
            <a:endParaRPr lang="en-US" sz="1200" dirty="0"/>
          </a:p>
        </p:txBody>
      </p:sp>
      <p:sp>
        <p:nvSpPr>
          <p:cNvPr id="9" name="Line 1 narration"/>
          <p:cNvSpPr txBox="1"/>
          <p:nvPr/>
        </p:nvSpPr>
        <p:spPr>
          <a:xfrm>
            <a:off x="7223760" y="1691640"/>
            <a:ext cx="2743200" cy="365760"/>
          </a:xfrm>
          <a:prstGeom prst="rect">
            <a:avLst/>
          </a:prstGeom>
          <a:noFill/>
          <a:ln/>
        </p:spPr>
        <p:txBody>
          <a:bodyPr wrap="square" lIns="0" tIns="0" rIns="0" bIns="0" rtlCol="0" anchor="t"/>
          <a:lstStyle/>
          <a:p>
            <a:pPr indent="0" marL="0">
              <a:buNone/>
            </a:pPr>
            <a:r>
              <a:rPr lang="en-US" sz="1500" dirty="0">
                <a:solidFill>
                  <a:schemeClr val="bg1"/>
                </a:solidFill>
                <a:latin typeface="Consolas" pitchFamily="34" charset="0"/>
                <a:ea typeface="Consolas" pitchFamily="34" charset="-122"/>
                <a:cs typeface="Consolas" pitchFamily="34" charset="-120"/>
              </a:rPr>
              <a:t>TRF/772101384</a:t>
            </a:r>
            <a:endParaRPr lang="en-US" sz="1500" dirty="0"/>
          </a:p>
        </p:txBody>
      </p:sp>
      <p:sp>
        <p:nvSpPr>
          <p:cNvPr id="10" name="Line 1 amount"/>
          <p:cNvSpPr txBox="1"/>
          <p:nvPr/>
        </p:nvSpPr>
        <p:spPr>
          <a:xfrm>
            <a:off x="9966960" y="1691640"/>
            <a:ext cx="1261872" cy="365760"/>
          </a:xfrm>
          <a:prstGeom prst="rect">
            <a:avLst/>
          </a:prstGeom>
          <a:noFill/>
          <a:ln/>
        </p:spPr>
        <p:txBody>
          <a:bodyPr wrap="square" lIns="0" tIns="0" rIns="0" bIns="0" rtlCol="0" anchor="t"/>
          <a:lstStyle/>
          <a:p>
            <a:pPr algn="r" indent="0" marL="0">
              <a:buNone/>
            </a:pPr>
            <a:r>
              <a:rPr lang="en-US" sz="1500" dirty="0">
                <a:solidFill>
                  <a:schemeClr val="bg1"/>
                </a:solidFill>
                <a:latin typeface="Consolas" pitchFamily="34" charset="0"/>
                <a:ea typeface="Consolas" pitchFamily="34" charset="-122"/>
                <a:cs typeface="Consolas" pitchFamily="34" charset="-120"/>
              </a:rPr>
              <a:t>−₦207,500</a:t>
            </a:r>
            <a:endParaRPr lang="en-US" sz="1500" dirty="0"/>
          </a:p>
        </p:txBody>
      </p:sp>
      <p:sp>
        <p:nvSpPr>
          <p:cNvPr id="11" name="Line 1 pill"/>
          <p:cNvSpPr/>
          <p:nvPr/>
        </p:nvSpPr>
        <p:spPr>
          <a:xfrm>
            <a:off x="7223760" y="2148840"/>
            <a:ext cx="731520" cy="329184"/>
          </a:xfrm>
          <a:prstGeom prst="roundRect">
            <a:avLst>
              <a:gd name="adj" fmla="val 50000"/>
            </a:avLst>
          </a:prstGeom>
          <a:solidFill>
            <a:srgbClr val="33CBB0"/>
          </a:solidFill>
          <a:ln/>
        </p:spPr>
      </p:sp>
      <p:sp>
        <p:nvSpPr>
          <p:cNvPr id="12" name="Line 1 pill text"/>
          <p:cNvSpPr txBox="1"/>
          <p:nvPr/>
        </p:nvSpPr>
        <p:spPr>
          <a:xfrm>
            <a:off x="7223760" y="2148840"/>
            <a:ext cx="731520" cy="329184"/>
          </a:xfrm>
          <a:prstGeom prst="rect">
            <a:avLst/>
          </a:prstGeom>
          <a:noFill/>
          <a:ln/>
        </p:spPr>
        <p:txBody>
          <a:bodyPr wrap="square" lIns="0" tIns="0" rIns="0" bIns="0" rtlCol="0" anchor="ctr"/>
          <a:lstStyle/>
          <a:p>
            <a:pPr algn="ctr" indent="0" marL="0">
              <a:buNone/>
            </a:pPr>
            <a:r>
              <a:rPr lang="en-US" sz="1200" b="1" dirty="0">
                <a:solidFill>
                  <a:schemeClr val="tx1"/>
                </a:solidFill>
              </a:rPr>
              <a:t>Stock</a:t>
            </a:r>
            <a:endParaRPr lang="en-US" sz="1200" dirty="0"/>
          </a:p>
        </p:txBody>
      </p:sp>
      <p:sp>
        <p:nvSpPr>
          <p:cNvPr id="13" name="Line 1 meaning"/>
          <p:cNvSpPr txBox="1"/>
          <p:nvPr/>
        </p:nvSpPr>
        <p:spPr>
          <a:xfrm>
            <a:off x="8092440" y="2148840"/>
            <a:ext cx="3108960" cy="329184"/>
          </a:xfrm>
          <a:prstGeom prst="rect">
            <a:avLst/>
          </a:prstGeom>
          <a:noFill/>
          <a:ln/>
        </p:spPr>
        <p:txBody>
          <a:bodyPr wrap="square" lIns="0" tIns="0" rIns="0" bIns="0" rtlCol="0" anchor="ctr"/>
          <a:lstStyle/>
          <a:p>
            <a:pPr indent="0" marL="0">
              <a:buNone/>
            </a:pPr>
            <a:r>
              <a:rPr lang="en-US" sz="1300" dirty="0">
                <a:solidFill>
                  <a:srgbClr val="CDB8CA"/>
                </a:solidFill>
              </a:rPr>
              <a:t>Adebayo Provisions · paid every week</a:t>
            </a:r>
            <a:endParaRPr lang="en-US" sz="1300" dirty="0"/>
          </a:p>
        </p:txBody>
      </p:sp>
      <p:sp>
        <p:nvSpPr>
          <p:cNvPr id="14" name="Divider 1"/>
          <p:cNvSpPr/>
          <p:nvPr/>
        </p:nvSpPr>
        <p:spPr>
          <a:xfrm>
            <a:off x="7223760" y="2715768"/>
            <a:ext cx="4005072" cy="0"/>
          </a:xfrm>
          <a:prstGeom prst="line">
            <a:avLst/>
          </a:prstGeom>
          <a:noFill/>
          <a:ln w="12700">
            <a:solidFill>
              <a:srgbClr val="5A2E56"/>
            </a:solidFill>
            <a:prstDash val="solid"/>
          </a:ln>
        </p:spPr>
      </p:sp>
      <p:sp>
        <p:nvSpPr>
          <p:cNvPr id="15" name="Line 2 narration"/>
          <p:cNvSpPr txBox="1"/>
          <p:nvPr/>
        </p:nvSpPr>
        <p:spPr>
          <a:xfrm>
            <a:off x="7223760" y="3017520"/>
            <a:ext cx="2743200" cy="365760"/>
          </a:xfrm>
          <a:prstGeom prst="rect">
            <a:avLst/>
          </a:prstGeom>
          <a:noFill/>
          <a:ln/>
        </p:spPr>
        <p:txBody>
          <a:bodyPr wrap="square" lIns="0" tIns="0" rIns="0" bIns="0" rtlCol="0" anchor="t"/>
          <a:lstStyle/>
          <a:p>
            <a:pPr indent="0" marL="0">
              <a:buNone/>
            </a:pPr>
            <a:r>
              <a:rPr lang="en-US" sz="1500" dirty="0">
                <a:solidFill>
                  <a:schemeClr val="bg1"/>
                </a:solidFill>
                <a:latin typeface="Consolas" pitchFamily="34" charset="0"/>
                <a:ea typeface="Consolas" pitchFamily="34" charset="-122"/>
                <a:cs typeface="Consolas" pitchFamily="34" charset="-120"/>
              </a:rPr>
              <a:t>POS SETTLEMENT 02/09</a:t>
            </a:r>
            <a:endParaRPr lang="en-US" sz="1500" dirty="0"/>
          </a:p>
        </p:txBody>
      </p:sp>
      <p:sp>
        <p:nvSpPr>
          <p:cNvPr id="16" name="Line 2 amount"/>
          <p:cNvSpPr txBox="1"/>
          <p:nvPr/>
        </p:nvSpPr>
        <p:spPr>
          <a:xfrm>
            <a:off x="9966960" y="3017520"/>
            <a:ext cx="1261872" cy="365760"/>
          </a:xfrm>
          <a:prstGeom prst="rect">
            <a:avLst/>
          </a:prstGeom>
          <a:noFill/>
          <a:ln/>
        </p:spPr>
        <p:txBody>
          <a:bodyPr wrap="square" lIns="0" tIns="0" rIns="0" bIns="0" rtlCol="0" anchor="t"/>
          <a:lstStyle/>
          <a:p>
            <a:pPr algn="r" indent="0" marL="0">
              <a:buNone/>
            </a:pPr>
            <a:r>
              <a:rPr lang="en-US" sz="1500" dirty="0">
                <a:solidFill>
                  <a:schemeClr val="bg1"/>
                </a:solidFill>
                <a:latin typeface="Consolas" pitchFamily="34" charset="0"/>
                <a:ea typeface="Consolas" pitchFamily="34" charset="-122"/>
                <a:cs typeface="Consolas" pitchFamily="34" charset="-120"/>
              </a:rPr>
              <a:t>+₦246,245</a:t>
            </a:r>
            <a:endParaRPr lang="en-US" sz="1500" dirty="0"/>
          </a:p>
        </p:txBody>
      </p:sp>
      <p:sp>
        <p:nvSpPr>
          <p:cNvPr id="17" name="Line 2 pill"/>
          <p:cNvSpPr/>
          <p:nvPr/>
        </p:nvSpPr>
        <p:spPr>
          <a:xfrm>
            <a:off x="7223760" y="3474720"/>
            <a:ext cx="731520" cy="329184"/>
          </a:xfrm>
          <a:prstGeom prst="roundRect">
            <a:avLst>
              <a:gd name="adj" fmla="val 50000"/>
            </a:avLst>
          </a:prstGeom>
          <a:solidFill>
            <a:srgbClr val="33CBB0"/>
          </a:solidFill>
          <a:ln/>
        </p:spPr>
      </p:sp>
      <p:sp>
        <p:nvSpPr>
          <p:cNvPr id="18" name="Line 2 pill text"/>
          <p:cNvSpPr txBox="1"/>
          <p:nvPr/>
        </p:nvSpPr>
        <p:spPr>
          <a:xfrm>
            <a:off x="7223760" y="3474720"/>
            <a:ext cx="731520" cy="329184"/>
          </a:xfrm>
          <a:prstGeom prst="rect">
            <a:avLst/>
          </a:prstGeom>
          <a:noFill/>
          <a:ln/>
        </p:spPr>
        <p:txBody>
          <a:bodyPr wrap="square" lIns="0" tIns="0" rIns="0" bIns="0" rtlCol="0" anchor="ctr"/>
          <a:lstStyle/>
          <a:p>
            <a:pPr algn="ctr" indent="0" marL="0">
              <a:buNone/>
            </a:pPr>
            <a:r>
              <a:rPr lang="en-US" sz="1200" b="1" dirty="0">
                <a:solidFill>
                  <a:schemeClr val="tx1"/>
                </a:solidFill>
              </a:rPr>
              <a:t>Sales</a:t>
            </a:r>
            <a:endParaRPr lang="en-US" sz="1200" dirty="0"/>
          </a:p>
        </p:txBody>
      </p:sp>
      <p:sp>
        <p:nvSpPr>
          <p:cNvPr id="19" name="Line 2 meaning"/>
          <p:cNvSpPr txBox="1"/>
          <p:nvPr/>
        </p:nvSpPr>
        <p:spPr>
          <a:xfrm>
            <a:off x="8092440" y="3474720"/>
            <a:ext cx="3108960" cy="329184"/>
          </a:xfrm>
          <a:prstGeom prst="rect">
            <a:avLst/>
          </a:prstGeom>
          <a:noFill/>
          <a:ln/>
        </p:spPr>
        <p:txBody>
          <a:bodyPr wrap="square" lIns="0" tIns="0" rIns="0" bIns="0" rtlCol="0" anchor="ctr"/>
          <a:lstStyle/>
          <a:p>
            <a:pPr indent="0" marL="0">
              <a:buNone/>
            </a:pPr>
            <a:r>
              <a:rPr lang="en-US" sz="1300" dirty="0">
                <a:solidFill>
                  <a:srgbClr val="CDB8CA"/>
                </a:solidFill>
              </a:rPr>
              <a:t>Customer card payments</a:t>
            </a:r>
            <a:endParaRPr lang="en-US" sz="1300" dirty="0"/>
          </a:p>
        </p:txBody>
      </p:sp>
      <p:sp>
        <p:nvSpPr>
          <p:cNvPr id="20" name="Divider 2"/>
          <p:cNvSpPr/>
          <p:nvPr/>
        </p:nvSpPr>
        <p:spPr>
          <a:xfrm>
            <a:off x="7223760" y="4041648"/>
            <a:ext cx="4005072" cy="0"/>
          </a:xfrm>
          <a:prstGeom prst="line">
            <a:avLst/>
          </a:prstGeom>
          <a:noFill/>
          <a:ln w="12700">
            <a:solidFill>
              <a:srgbClr val="5A2E56"/>
            </a:solidFill>
            <a:prstDash val="solid"/>
          </a:ln>
        </p:spPr>
      </p:sp>
      <p:sp>
        <p:nvSpPr>
          <p:cNvPr id="21" name="Line 3 narration"/>
          <p:cNvSpPr txBox="1"/>
          <p:nvPr/>
        </p:nvSpPr>
        <p:spPr>
          <a:xfrm>
            <a:off x="7223760" y="4343400"/>
            <a:ext cx="2743200" cy="365760"/>
          </a:xfrm>
          <a:prstGeom prst="rect">
            <a:avLst/>
          </a:prstGeom>
          <a:noFill/>
          <a:ln/>
        </p:spPr>
        <p:txBody>
          <a:bodyPr wrap="square" lIns="0" tIns="0" rIns="0" bIns="0" rtlCol="0" anchor="t"/>
          <a:lstStyle/>
          <a:p>
            <a:pPr indent="0" marL="0">
              <a:buNone/>
            </a:pPr>
            <a:r>
              <a:rPr lang="en-US" sz="1500" dirty="0">
                <a:solidFill>
                  <a:schemeClr val="bg1"/>
                </a:solidFill>
                <a:latin typeface="Consolas" pitchFamily="34" charset="0"/>
                <a:ea typeface="Consolas" pitchFamily="34" charset="-122"/>
                <a:cs typeface="Consolas" pitchFamily="34" charset="-120"/>
              </a:rPr>
              <a:t>POS PURCHASE</a:t>
            </a:r>
            <a:endParaRPr lang="en-US" sz="1500" dirty="0"/>
          </a:p>
        </p:txBody>
      </p:sp>
      <p:sp>
        <p:nvSpPr>
          <p:cNvPr id="22" name="Line 3 amount"/>
          <p:cNvSpPr txBox="1"/>
          <p:nvPr/>
        </p:nvSpPr>
        <p:spPr>
          <a:xfrm>
            <a:off x="9966960" y="4343400"/>
            <a:ext cx="1261872" cy="365760"/>
          </a:xfrm>
          <a:prstGeom prst="rect">
            <a:avLst/>
          </a:prstGeom>
          <a:noFill/>
          <a:ln/>
        </p:spPr>
        <p:txBody>
          <a:bodyPr wrap="square" lIns="0" tIns="0" rIns="0" bIns="0" rtlCol="0" anchor="t"/>
          <a:lstStyle/>
          <a:p>
            <a:pPr algn="r" indent="0" marL="0">
              <a:buNone/>
            </a:pPr>
            <a:r>
              <a:rPr lang="en-US" sz="1500" dirty="0">
                <a:solidFill>
                  <a:schemeClr val="bg1"/>
                </a:solidFill>
                <a:latin typeface="Consolas" pitchFamily="34" charset="0"/>
                <a:ea typeface="Consolas" pitchFamily="34" charset="-122"/>
                <a:cs typeface="Consolas" pitchFamily="34" charset="-120"/>
              </a:rPr>
              <a:t>−₦28,700</a:t>
            </a:r>
            <a:endParaRPr lang="en-US" sz="1500" dirty="0"/>
          </a:p>
        </p:txBody>
      </p:sp>
      <p:sp>
        <p:nvSpPr>
          <p:cNvPr id="23" name="Line 3 pill"/>
          <p:cNvSpPr/>
          <p:nvPr/>
        </p:nvSpPr>
        <p:spPr>
          <a:xfrm>
            <a:off x="7223760" y="4800600"/>
            <a:ext cx="1234440" cy="329184"/>
          </a:xfrm>
          <a:prstGeom prst="roundRect">
            <a:avLst>
              <a:gd name="adj" fmla="val 50000"/>
            </a:avLst>
          </a:prstGeom>
          <a:solidFill>
            <a:srgbClr val="FFD42D"/>
          </a:solidFill>
          <a:ln/>
        </p:spPr>
      </p:sp>
      <p:sp>
        <p:nvSpPr>
          <p:cNvPr id="24" name="Line 3 pill text"/>
          <p:cNvSpPr txBox="1"/>
          <p:nvPr/>
        </p:nvSpPr>
        <p:spPr>
          <a:xfrm>
            <a:off x="7223760" y="4800600"/>
            <a:ext cx="1234440" cy="329184"/>
          </a:xfrm>
          <a:prstGeom prst="rect">
            <a:avLst/>
          </a:prstGeom>
          <a:noFill/>
          <a:ln/>
        </p:spPr>
        <p:txBody>
          <a:bodyPr wrap="square" lIns="0" tIns="0" rIns="0" bIns="0" rtlCol="0" anchor="ctr"/>
          <a:lstStyle/>
          <a:p>
            <a:pPr algn="ctr" indent="0" marL="0">
              <a:buNone/>
            </a:pPr>
            <a:r>
              <a:rPr lang="en-US" sz="1200" b="1" dirty="0">
                <a:solidFill>
                  <a:schemeClr val="tx1"/>
                </a:solidFill>
              </a:rPr>
              <a:t>Not sure yet</a:t>
            </a:r>
            <a:endParaRPr lang="en-US" sz="1200" dirty="0"/>
          </a:p>
        </p:txBody>
      </p:sp>
      <p:sp>
        <p:nvSpPr>
          <p:cNvPr id="25" name="Line 3 meaning"/>
          <p:cNvSpPr txBox="1"/>
          <p:nvPr/>
        </p:nvSpPr>
        <p:spPr>
          <a:xfrm>
            <a:off x="8595360" y="4800600"/>
            <a:ext cx="2606040" cy="329184"/>
          </a:xfrm>
          <a:prstGeom prst="rect">
            <a:avLst/>
          </a:prstGeom>
          <a:noFill/>
          <a:ln/>
        </p:spPr>
        <p:txBody>
          <a:bodyPr wrap="square" lIns="0" tIns="0" rIns="0" bIns="0" rtlCol="0" anchor="ctr"/>
          <a:lstStyle/>
          <a:p>
            <a:pPr indent="0" marL="0">
              <a:buNone/>
            </a:pPr>
            <a:r>
              <a:rPr lang="en-US" sz="1300" dirty="0">
                <a:solidFill>
                  <a:srgbClr val="CDB8CA"/>
                </a:solidFill>
              </a:rPr>
              <a:t>We'll ask Aisha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lIns="0" tIns="0" rIns="0" bIns="0" rtlCol="0"/>
          <a:lstStyle/>
          <a:p>
            <a:pPr indent="0" marL="0">
              <a:buNone/>
            </a:pPr>
            <a:r>
              <a:rPr lang="en-US" sz="1400" b="1" spc="200" kern="0" dirty="0">
                <a:solidFill>
                  <a:schemeClr val="accent1"/>
                </a:solidFill>
              </a:rPr>
              <a:t>THE PROBLEM</a:t>
            </a: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lIns="0" tIns="0" rIns="0" bIns="0" rtlCol="0" anchor="t"/>
          <a:lstStyle/>
          <a:p>
            <a:pPr algn="l" indent="0" marL="0">
              <a:buNone/>
            </a:pPr>
            <a:r>
              <a:rPr lang="en-US" sz="3400" b="1" dirty="0">
                <a:solidFill>
                  <a:schemeClr val="tx1"/>
                </a:solidFill>
                <a:latin typeface="Century Gothic" pitchFamily="34" charset="0"/>
                <a:ea typeface="Century Gothic" pitchFamily="34" charset="-122"/>
                <a:cs typeface="Century Gothic" pitchFamily="34" charset="-120"/>
              </a:rPr>
              <a:t>Small businesses have data, not answers</a:t>
            </a:r>
            <a:endParaRPr lang="en-US" sz="3400" dirty="0"/>
          </a:p>
        </p:txBody>
      </p:sp>
      <p:sp>
        <p:nvSpPr>
          <p:cNvPr id="4" name="Question 1 card"/>
          <p:cNvSpPr/>
          <p:nvPr/>
        </p:nvSpPr>
        <p:spPr>
          <a:xfrm>
            <a:off x="685800" y="1965960"/>
            <a:ext cx="5272888" cy="1188720"/>
          </a:xfrm>
          <a:prstGeom prst="roundRect">
            <a:avLst>
              <a:gd name="adj" fmla="val 12308"/>
            </a:avLst>
          </a:prstGeom>
          <a:solidFill>
            <a:srgbClr val="FFFFFF"/>
          </a:solidFill>
          <a:ln w="12700">
            <a:solidFill>
              <a:srgbClr val="E7DCE5"/>
            </a:solidFill>
            <a:prstDash val="solid"/>
          </a:ln>
        </p:spPr>
      </p:sp>
      <p:sp>
        <p:nvSpPr>
          <p:cNvPr id="5" name="Question 1"/>
          <p:cNvSpPr txBox="1"/>
          <p:nvPr/>
        </p:nvSpPr>
        <p:spPr>
          <a:xfrm>
            <a:off x="1005840" y="1965960"/>
            <a:ext cx="4632808" cy="1188720"/>
          </a:xfrm>
          <a:prstGeom prst="rect">
            <a:avLst/>
          </a:prstGeom>
          <a:noFill/>
          <a:ln/>
        </p:spPr>
        <p:txBody>
          <a:bodyPr wrap="square" lIns="0" tIns="0" rIns="0" bIns="0" rtlCol="0" anchor="ctr"/>
          <a:lstStyle/>
          <a:p>
            <a:pPr indent="0" marL="0">
              <a:buNone/>
            </a:pPr>
            <a:r>
              <a:rPr lang="en-US" sz="2200" b="1" dirty="0">
                <a:solidFill>
                  <a:schemeClr val="tx1"/>
                </a:solidFill>
                <a:latin typeface="Century Gothic" pitchFamily="34" charset="0"/>
                <a:ea typeface="Century Gothic" pitchFamily="34" charset="-122"/>
                <a:cs typeface="Century Gothic" pitchFamily="34" charset="-120"/>
              </a:rPr>
              <a:t>Am I actually making money?</a:t>
            </a:r>
            <a:endParaRPr lang="en-US" sz="2200" dirty="0"/>
          </a:p>
        </p:txBody>
      </p:sp>
      <p:sp>
        <p:nvSpPr>
          <p:cNvPr id="6" name="Question 2 card"/>
          <p:cNvSpPr/>
          <p:nvPr/>
        </p:nvSpPr>
        <p:spPr>
          <a:xfrm>
            <a:off x="6233008" y="1965960"/>
            <a:ext cx="5272888" cy="1188720"/>
          </a:xfrm>
          <a:prstGeom prst="roundRect">
            <a:avLst>
              <a:gd name="adj" fmla="val 12308"/>
            </a:avLst>
          </a:prstGeom>
          <a:solidFill>
            <a:srgbClr val="FFFFFF"/>
          </a:solidFill>
          <a:ln w="12700">
            <a:solidFill>
              <a:srgbClr val="E7DCE5"/>
            </a:solidFill>
            <a:prstDash val="solid"/>
          </a:ln>
        </p:spPr>
      </p:sp>
      <p:sp>
        <p:nvSpPr>
          <p:cNvPr id="7" name="Question 2"/>
          <p:cNvSpPr txBox="1"/>
          <p:nvPr/>
        </p:nvSpPr>
        <p:spPr>
          <a:xfrm>
            <a:off x="6553048" y="1965960"/>
            <a:ext cx="4632808" cy="1188720"/>
          </a:xfrm>
          <a:prstGeom prst="rect">
            <a:avLst/>
          </a:prstGeom>
          <a:noFill/>
          <a:ln/>
        </p:spPr>
        <p:txBody>
          <a:bodyPr wrap="square" lIns="0" tIns="0" rIns="0" bIns="0" rtlCol="0" anchor="ctr"/>
          <a:lstStyle/>
          <a:p>
            <a:pPr indent="0" marL="0">
              <a:buNone/>
            </a:pPr>
            <a:r>
              <a:rPr lang="en-US" sz="2200" b="1" dirty="0">
                <a:solidFill>
                  <a:schemeClr val="tx1"/>
                </a:solidFill>
                <a:latin typeface="Century Gothic" pitchFamily="34" charset="0"/>
                <a:ea typeface="Century Gothic" pitchFamily="34" charset="-122"/>
                <a:cs typeface="Century Gothic" pitchFamily="34" charset="-120"/>
              </a:rPr>
              <a:t>Where is my money going?</a:t>
            </a:r>
            <a:endParaRPr lang="en-US" sz="2200" dirty="0"/>
          </a:p>
        </p:txBody>
      </p:sp>
      <p:sp>
        <p:nvSpPr>
          <p:cNvPr id="8" name="Question 3 card"/>
          <p:cNvSpPr/>
          <p:nvPr/>
        </p:nvSpPr>
        <p:spPr>
          <a:xfrm>
            <a:off x="685800" y="3383280"/>
            <a:ext cx="5272888" cy="1188720"/>
          </a:xfrm>
          <a:prstGeom prst="roundRect">
            <a:avLst>
              <a:gd name="adj" fmla="val 12308"/>
            </a:avLst>
          </a:prstGeom>
          <a:solidFill>
            <a:srgbClr val="FFFFFF"/>
          </a:solidFill>
          <a:ln w="12700">
            <a:solidFill>
              <a:srgbClr val="E7DCE5"/>
            </a:solidFill>
            <a:prstDash val="solid"/>
          </a:ln>
        </p:spPr>
      </p:sp>
      <p:sp>
        <p:nvSpPr>
          <p:cNvPr id="9" name="Question 3"/>
          <p:cNvSpPr txBox="1"/>
          <p:nvPr/>
        </p:nvSpPr>
        <p:spPr>
          <a:xfrm>
            <a:off x="1005840" y="3383280"/>
            <a:ext cx="4632808" cy="1188720"/>
          </a:xfrm>
          <a:prstGeom prst="rect">
            <a:avLst/>
          </a:prstGeom>
          <a:noFill/>
          <a:ln/>
        </p:spPr>
        <p:txBody>
          <a:bodyPr wrap="square" lIns="0" tIns="0" rIns="0" bIns="0" rtlCol="0" anchor="ctr"/>
          <a:lstStyle/>
          <a:p>
            <a:pPr indent="0" marL="0">
              <a:buNone/>
            </a:pPr>
            <a:r>
              <a:rPr lang="en-US" sz="2200" b="1" dirty="0">
                <a:solidFill>
                  <a:schemeClr val="tx1"/>
                </a:solidFill>
                <a:latin typeface="Century Gothic" pitchFamily="34" charset="0"/>
                <a:ea typeface="Century Gothic" pitchFamily="34" charset="-122"/>
                <a:cs typeface="Century Gothic" pitchFamily="34" charset="-120"/>
              </a:rPr>
              <a:t>Will I have enough cash later this month?</a:t>
            </a:r>
            <a:endParaRPr lang="en-US" sz="2200" dirty="0"/>
          </a:p>
        </p:txBody>
      </p:sp>
      <p:sp>
        <p:nvSpPr>
          <p:cNvPr id="10" name="Question 4 card"/>
          <p:cNvSpPr/>
          <p:nvPr/>
        </p:nvSpPr>
        <p:spPr>
          <a:xfrm>
            <a:off x="6233008" y="3383280"/>
            <a:ext cx="5272888" cy="1188720"/>
          </a:xfrm>
          <a:prstGeom prst="roundRect">
            <a:avLst>
              <a:gd name="adj" fmla="val 12308"/>
            </a:avLst>
          </a:prstGeom>
          <a:solidFill>
            <a:srgbClr val="FFFFFF"/>
          </a:solidFill>
          <a:ln w="12700">
            <a:solidFill>
              <a:srgbClr val="E7DCE5"/>
            </a:solidFill>
            <a:prstDash val="solid"/>
          </a:ln>
        </p:spPr>
      </p:sp>
      <p:sp>
        <p:nvSpPr>
          <p:cNvPr id="11" name="Question 4"/>
          <p:cNvSpPr txBox="1"/>
          <p:nvPr/>
        </p:nvSpPr>
        <p:spPr>
          <a:xfrm>
            <a:off x="6553048" y="3383280"/>
            <a:ext cx="4632808" cy="1188720"/>
          </a:xfrm>
          <a:prstGeom prst="rect">
            <a:avLst/>
          </a:prstGeom>
          <a:noFill/>
          <a:ln/>
        </p:spPr>
        <p:txBody>
          <a:bodyPr wrap="square" lIns="0" tIns="0" rIns="0" bIns="0" rtlCol="0" anchor="ctr"/>
          <a:lstStyle/>
          <a:p>
            <a:pPr indent="0" marL="0">
              <a:buNone/>
            </a:pPr>
            <a:r>
              <a:rPr lang="en-US" sz="2200" b="1" dirty="0">
                <a:solidFill>
                  <a:schemeClr val="tx1"/>
                </a:solidFill>
                <a:latin typeface="Century Gothic" pitchFamily="34" charset="0"/>
                <a:ea typeface="Century Gothic" pitchFamily="34" charset="-122"/>
                <a:cs typeface="Century Gothic" pitchFamily="34" charset="-120"/>
              </a:rPr>
              <a:t>Can I afford ₦300,000 of stock?</a:t>
            </a:r>
            <a:endParaRPr lang="en-US" sz="2200" dirty="0"/>
          </a:p>
        </p:txBody>
      </p:sp>
      <p:sp>
        <p:nvSpPr>
          <p:cNvPr id="12" name="Takeaway"/>
          <p:cNvSpPr txBox="1"/>
          <p:nvPr/>
        </p:nvSpPr>
        <p:spPr>
          <a:xfrm>
            <a:off x="685800" y="4937760"/>
            <a:ext cx="10820095" cy="548640"/>
          </a:xfrm>
          <a:prstGeom prst="rect">
            <a:avLst/>
          </a:prstGeom>
          <a:noFill/>
          <a:ln/>
        </p:spPr>
        <p:txBody>
          <a:bodyPr wrap="square" lIns="0" tIns="0" rIns="0" bIns="0" rtlCol="0" anchor="t"/>
          <a:lstStyle/>
          <a:p>
            <a:pPr indent="0" marL="0">
              <a:buNone/>
            </a:pPr>
            <a:r>
              <a:rPr lang="en-US" sz="1800" dirty="0">
                <a:solidFill>
                  <a:schemeClr val="accent3"/>
                </a:solidFill>
              </a:rPr>
              <a:t>A bank statement shows what happened. It doesn't say what it means, or what's coming next.</a:t>
            </a:r>
            <a:endParaRPr lang="en-US" sz="18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lIns="0" tIns="0" rIns="0" bIns="0" rtlCol="0"/>
          <a:lstStyle/>
          <a:p>
            <a:pPr indent="0" marL="0">
              <a:buNone/>
            </a:pPr>
            <a:r>
              <a:rPr lang="en-US" sz="1400" b="1" spc="200" kern="0" dirty="0">
                <a:solidFill>
                  <a:schemeClr val="accent1"/>
                </a:solidFill>
              </a:rPr>
              <a:t>WHO IT'S FOR</a:t>
            </a: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lIns="0" tIns="0" rIns="0" bIns="0" rtlCol="0" anchor="t"/>
          <a:lstStyle/>
          <a:p>
            <a:pPr algn="l" indent="0" marL="0">
              <a:buNone/>
            </a:pPr>
            <a:r>
              <a:rPr lang="en-US" sz="3400" b="1" dirty="0">
                <a:solidFill>
                  <a:schemeClr val="tx1"/>
                </a:solidFill>
                <a:latin typeface="Century Gothic" pitchFamily="34" charset="0"/>
                <a:ea typeface="Century Gothic" pitchFamily="34" charset="-122"/>
                <a:cs typeface="Century Gothic" pitchFamily="34" charset="-120"/>
              </a:rPr>
              <a:t>Meet Aisha</a:t>
            </a:r>
            <a:endParaRPr lang="en-US" sz="3400" dirty="0"/>
          </a:p>
        </p:txBody>
      </p:sp>
      <p:sp>
        <p:nvSpPr>
          <p:cNvPr id="4" name="Intro"/>
          <p:cNvSpPr txBox="1"/>
          <p:nvPr/>
        </p:nvSpPr>
        <p:spPr>
          <a:xfrm>
            <a:off x="685800" y="1965960"/>
            <a:ext cx="6309360" cy="731520"/>
          </a:xfrm>
          <a:prstGeom prst="rect">
            <a:avLst/>
          </a:prstGeom>
          <a:noFill/>
          <a:ln/>
        </p:spPr>
        <p:txBody>
          <a:bodyPr wrap="square" lIns="0" tIns="0" rIns="0" bIns="0" rtlCol="0" anchor="t"/>
          <a:lstStyle/>
          <a:p>
            <a:pPr indent="0" marL="0">
              <a:buNone/>
            </a:pPr>
            <a:r>
              <a:rPr lang="en-US" sz="1800" dirty="0">
                <a:solidFill>
                  <a:schemeClr val="accent3"/>
                </a:solidFill>
              </a:rPr>
              <a:t>She runs a mini mart in Ibadan. Money comes in and goes out every day, but she has no financial analyst.</a:t>
            </a:r>
            <a:endParaRPr lang="en-US" sz="1800" dirty="0"/>
          </a:p>
        </p:txBody>
      </p:sp>
      <p:graphicFrame>
        <p:nvGraphicFramePr>
          <p:cNvPr id="4" name="Business facts"/>
          <p:cNvGraphicFramePr>
            <a:graphicFrameLocks noGrp="1"/>
          </p:cNvGraphicFramePr>
          <p:nvPr>
            <p:extLst>
              <p:ext uri="{D42A27DB-BD31-4B8C-83A1-F6EECF244321}">
                <p14:modId xmlns:p14="http://schemas.microsoft.com/office/powerpoint/2010/main" val="1579011935"/>
              </p:ext>
            </p:extLst>
          </p:nvPr>
        </p:nvGraphicFramePr>
        <p:xfrm>
          <a:off x="685800" y="2880360"/>
          <a:ext cx="6309360" cy="914400"/>
        </p:xfrm>
        <a:graphic>
          <a:graphicData uri="http://schemas.openxmlformats.org/drawingml/2006/table">
            <a:tbl>
              <a:tblPr/>
              <a:tblGrid>
                <a:gridCol w="1920240"/>
                <a:gridCol w="4389120"/>
              </a:tblGrid>
              <a:tr h="0">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Business</a:t>
                      </a:r>
                      <a:endParaRPr lang="en-US" sz="1600" dirty="0">
                        <a:latin typeface="Calibri" charset="0"/>
                        <a:ea typeface="Calibri" charset="0"/>
                        <a:cs typeface="Calibri" charset="0"/>
                      </a:endParaRPr>
                    </a:p>
                  </a:txBody>
                  <a:tcPr marL="0" marR="91440" marT="109728" marB="109728">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solidFill>
                      <a:srgbClr val="F4EDF3"/>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Aisha Mini Mart, Bodija</a:t>
                      </a:r>
                      <a:endParaRPr lang="en-US" sz="1600" dirty="0">
                        <a:latin typeface="Calibri" charset="0"/>
                        <a:ea typeface="Calibri" charset="0"/>
                        <a:cs typeface="Calibri" charset="0"/>
                      </a:endParaRPr>
                    </a:p>
                  </a:txBody>
                  <a:tcPr marL="0" marR="91440" marT="109728" marB="109728">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solidFill>
                      <a:srgbClr val="F4EDF3"/>
                    </a:solidFill>
                  </a:tcPr>
                </a:tc>
              </a:tr>
              <a:tr h="0">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Team</a:t>
                      </a:r>
                      <a:endParaRPr lang="en-US" sz="1600" dirty="0">
                        <a:latin typeface="Calibri" charset="0"/>
                        <a:ea typeface="Calibri" charset="0"/>
                        <a:cs typeface="Calibri" charset="0"/>
                      </a:endParaRPr>
                    </a:p>
                  </a:txBody>
                  <a:tcPr marL="0" marR="91440" marT="109728" marB="109728">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solidFill>
                      <a:srgbClr val="F4EDF3"/>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Aisha and 2 staff</a:t>
                      </a:r>
                      <a:endParaRPr lang="en-US" sz="1600" dirty="0">
                        <a:latin typeface="Calibri" charset="0"/>
                        <a:ea typeface="Calibri" charset="0"/>
                        <a:cs typeface="Calibri" charset="0"/>
                      </a:endParaRPr>
                    </a:p>
                  </a:txBody>
                  <a:tcPr marL="0" marR="91440" marT="109728" marB="109728">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solidFill>
                      <a:srgbClr val="F4EDF3"/>
                    </a:solidFill>
                  </a:tcPr>
                </a:tc>
              </a:tr>
              <a:tr h="0">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Monthly sales</a:t>
                      </a:r>
                      <a:endParaRPr lang="en-US" sz="1600" dirty="0">
                        <a:latin typeface="Calibri" charset="0"/>
                        <a:ea typeface="Calibri" charset="0"/>
                        <a:cs typeface="Calibri" charset="0"/>
                      </a:endParaRPr>
                    </a:p>
                  </a:txBody>
                  <a:tcPr marL="0" marR="91440" marT="109728" marB="109728">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solidFill>
                      <a:srgbClr val="F4EDF3"/>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₦2.2M in April → ₦2.76M in September</a:t>
                      </a:r>
                      <a:endParaRPr lang="en-US" sz="1600" dirty="0">
                        <a:latin typeface="Calibri" charset="0"/>
                        <a:ea typeface="Calibri" charset="0"/>
                        <a:cs typeface="Calibri" charset="0"/>
                      </a:endParaRPr>
                    </a:p>
                  </a:txBody>
                  <a:tcPr marL="0" marR="91440" marT="109728" marB="109728">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solidFill>
                      <a:srgbClr val="F4EDF3"/>
                    </a:solidFill>
                  </a:tcPr>
                </a:tc>
              </a:tr>
              <a:tr h="0">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Pays regularly</a:t>
                      </a:r>
                      <a:endParaRPr lang="en-US" sz="1600" dirty="0">
                        <a:latin typeface="Calibri" charset="0"/>
                        <a:ea typeface="Calibri" charset="0"/>
                        <a:cs typeface="Calibri" charset="0"/>
                      </a:endParaRPr>
                    </a:p>
                  </a:txBody>
                  <a:tcPr marL="0" marR="91440" marT="109728" marB="109728">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solidFill>
                      <a:srgbClr val="F4EDF3"/>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3 suppliers, rent, salaries, diesel, power</a:t>
                      </a:r>
                      <a:endParaRPr lang="en-US" sz="1600" dirty="0">
                        <a:latin typeface="Calibri" charset="0"/>
                        <a:ea typeface="Calibri" charset="0"/>
                        <a:cs typeface="Calibri" charset="0"/>
                      </a:endParaRPr>
                    </a:p>
                  </a:txBody>
                  <a:tcPr marL="0" marR="91440" marT="109728" marB="109728">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solidFill>
                      <a:srgbClr val="F4EDF3"/>
                    </a:solidFill>
                  </a:tcPr>
                </a:tc>
              </a:tr>
            </a:tbl>
          </a:graphicData>
        </a:graphic>
      </p:graphicFrame>
      <p:sp>
        <p:nvSpPr>
          <p:cNvPr id="6" name="Hook card"/>
          <p:cNvSpPr/>
          <p:nvPr/>
        </p:nvSpPr>
        <p:spPr>
          <a:xfrm>
            <a:off x="7452360" y="914400"/>
            <a:ext cx="4050792" cy="4846320"/>
          </a:xfrm>
          <a:prstGeom prst="roundRect">
            <a:avLst>
              <a:gd name="adj" fmla="val 3612"/>
            </a:avLst>
          </a:prstGeom>
          <a:solidFill>
            <a:srgbClr val="2B0F29"/>
          </a:solidFill>
          <a:ln w="12700">
            <a:solidFill>
              <a:srgbClr val="2B0F29"/>
            </a:solidFill>
            <a:prstDash val="solid"/>
          </a:ln>
        </p:spPr>
      </p:sp>
      <p:sp>
        <p:nvSpPr>
          <p:cNvPr id="7" name="Sales growth"/>
          <p:cNvSpPr txBox="1"/>
          <p:nvPr/>
        </p:nvSpPr>
        <p:spPr>
          <a:xfrm>
            <a:off x="7818120" y="1234440"/>
            <a:ext cx="3383280" cy="868680"/>
          </a:xfrm>
          <a:prstGeom prst="rect">
            <a:avLst/>
          </a:prstGeom>
          <a:noFill/>
          <a:ln/>
        </p:spPr>
        <p:txBody>
          <a:bodyPr wrap="square" lIns="0" tIns="0" rIns="0" bIns="0" rtlCol="0" anchor="t"/>
          <a:lstStyle/>
          <a:p>
            <a:pPr indent="0" marL="0">
              <a:buNone/>
            </a:pPr>
            <a:r>
              <a:rPr lang="en-US" sz="6000" b="1" dirty="0">
                <a:solidFill>
                  <a:schemeClr val="accent2"/>
                </a:solidFill>
                <a:latin typeface="Century Gothic" pitchFamily="34" charset="0"/>
                <a:ea typeface="Century Gothic" pitchFamily="34" charset="-122"/>
                <a:cs typeface="Century Gothic" pitchFamily="34" charset="-120"/>
              </a:rPr>
              <a:t>+12%</a:t>
            </a:r>
            <a:endParaRPr lang="en-US" sz="6000" dirty="0"/>
          </a:p>
        </p:txBody>
      </p:sp>
      <p:sp>
        <p:nvSpPr>
          <p:cNvPr id="8" name="Sales growth label"/>
          <p:cNvSpPr txBox="1"/>
          <p:nvPr/>
        </p:nvSpPr>
        <p:spPr>
          <a:xfrm>
            <a:off x="7818120" y="2103120"/>
            <a:ext cx="3383280" cy="411480"/>
          </a:xfrm>
          <a:prstGeom prst="rect">
            <a:avLst/>
          </a:prstGeom>
          <a:noFill/>
          <a:ln/>
        </p:spPr>
        <p:txBody>
          <a:bodyPr wrap="square" lIns="0" tIns="0" rIns="0" bIns="0" rtlCol="0" anchor="t"/>
          <a:lstStyle/>
          <a:p>
            <a:pPr indent="0" marL="0">
              <a:buNone/>
            </a:pPr>
            <a:r>
              <a:rPr lang="en-US" sz="1500" dirty="0">
                <a:solidFill>
                  <a:srgbClr val="E9D7E6"/>
                </a:solidFill>
              </a:rPr>
              <a:t>sales growth over the last 3 months</a:t>
            </a:r>
            <a:endParaRPr lang="en-US" sz="1500" dirty="0"/>
          </a:p>
        </p:txBody>
      </p:sp>
      <p:sp>
        <p:nvSpPr>
          <p:cNvPr id="9" name="Cash change"/>
          <p:cNvSpPr txBox="1"/>
          <p:nvPr/>
        </p:nvSpPr>
        <p:spPr>
          <a:xfrm>
            <a:off x="7818120" y="2697480"/>
            <a:ext cx="3383280" cy="868680"/>
          </a:xfrm>
          <a:prstGeom prst="rect">
            <a:avLst/>
          </a:prstGeom>
          <a:noFill/>
          <a:ln/>
        </p:spPr>
        <p:txBody>
          <a:bodyPr wrap="square" lIns="0" tIns="0" rIns="0" bIns="0" rtlCol="0" anchor="t"/>
          <a:lstStyle/>
          <a:p>
            <a:pPr indent="0" marL="0">
              <a:buNone/>
            </a:pPr>
            <a:r>
              <a:rPr lang="en-US" sz="6000" b="1" dirty="0">
                <a:solidFill>
                  <a:schemeClr val="accent6"/>
                </a:solidFill>
                <a:latin typeface="Century Gothic" pitchFamily="34" charset="0"/>
                <a:ea typeface="Century Gothic" pitchFamily="34" charset="-122"/>
                <a:cs typeface="Century Gothic" pitchFamily="34" charset="-120"/>
              </a:rPr>
              <a:t>−22%</a:t>
            </a:r>
            <a:endParaRPr lang="en-US" sz="6000" dirty="0"/>
          </a:p>
        </p:txBody>
      </p:sp>
      <p:sp>
        <p:nvSpPr>
          <p:cNvPr id="10" name="Cash change label"/>
          <p:cNvSpPr txBox="1"/>
          <p:nvPr/>
        </p:nvSpPr>
        <p:spPr>
          <a:xfrm>
            <a:off x="7818120" y="3566160"/>
            <a:ext cx="3383280" cy="594360"/>
          </a:xfrm>
          <a:prstGeom prst="rect">
            <a:avLst/>
          </a:prstGeom>
          <a:noFill/>
          <a:ln/>
        </p:spPr>
        <p:txBody>
          <a:bodyPr wrap="square" lIns="0" tIns="0" rIns="0" bIns="0" rtlCol="0" anchor="t"/>
          <a:lstStyle/>
          <a:p>
            <a:pPr indent="0" marL="0">
              <a:buNone/>
            </a:pPr>
            <a:r>
              <a:rPr lang="en-US" sz="1500" dirty="0">
                <a:solidFill>
                  <a:srgbClr val="E9D7E6"/>
                </a:solidFill>
              </a:rPr>
              <a:t>cash balance in September</a:t>
            </a:r>
            <a:endParaRPr lang="en-US" sz="1500" dirty="0"/>
          </a:p>
          <a:p>
            <a:pPr indent="0" marL="0">
              <a:buNone/>
            </a:pPr>
            <a:r>
              <a:rPr lang="en-US" sz="1500" dirty="0">
                <a:solidFill>
                  <a:srgbClr val="E9D7E6"/>
                </a:solidFill>
              </a:rPr>
              <a:t>₦740K → ₦580K</a:t>
            </a:r>
            <a:endParaRPr lang="en-US" sz="1500" dirty="0"/>
          </a:p>
        </p:txBody>
      </p:sp>
      <p:sp>
        <p:nvSpPr>
          <p:cNvPr id="11" name="Hook"/>
          <p:cNvSpPr txBox="1"/>
          <p:nvPr/>
        </p:nvSpPr>
        <p:spPr>
          <a:xfrm>
            <a:off x="7818120" y="4343400"/>
            <a:ext cx="3383280" cy="914400"/>
          </a:xfrm>
          <a:prstGeom prst="rect">
            <a:avLst/>
          </a:prstGeom>
          <a:noFill/>
          <a:ln/>
        </p:spPr>
        <p:txBody>
          <a:bodyPr wrap="square" lIns="0" tIns="0" rIns="0" bIns="0" rtlCol="0" anchor="t"/>
          <a:lstStyle/>
          <a:p>
            <a:pPr indent="0" marL="0">
              <a:buNone/>
            </a:pPr>
            <a:r>
              <a:rPr lang="en-US" sz="2000" b="1" dirty="0">
                <a:solidFill>
                  <a:schemeClr val="bg1"/>
                </a:solidFill>
                <a:latin typeface="Century Gothic" pitchFamily="34" charset="0"/>
                <a:ea typeface="Century Gothic" pitchFamily="34" charset="-122"/>
                <a:cs typeface="Century Gothic" pitchFamily="34" charset="-120"/>
              </a:rPr>
              <a:t>Sales are growing. Cash is shrinking. Why?</a:t>
            </a:r>
            <a:endParaRPr lang="en-US" sz="2000" dirty="0"/>
          </a:p>
        </p:txBody>
      </p:sp>
      <p:sp>
        <p:nvSpPr>
          <p:cNvPr id="12" name="Persona note"/>
          <p:cNvSpPr txBox="1"/>
          <p:nvPr/>
        </p:nvSpPr>
        <p:spPr>
          <a:xfrm>
            <a:off x="685800" y="5806440"/>
            <a:ext cx="6492240" cy="365760"/>
          </a:xfrm>
          <a:prstGeom prst="rect">
            <a:avLst/>
          </a:prstGeom>
          <a:noFill/>
          <a:ln/>
        </p:spPr>
        <p:txBody>
          <a:bodyPr wrap="square" lIns="0" tIns="0" rIns="0" bIns="0" rtlCol="0" anchor="t"/>
          <a:lstStyle/>
          <a:p>
            <a:pPr indent="0" marL="0">
              <a:buNone/>
            </a:pPr>
            <a:r>
              <a:rPr lang="en-US" sz="1200" dirty="0">
                <a:solidFill>
                  <a:srgbClr val="6E6370"/>
                </a:solidFill>
              </a:rPr>
              <a:t>Aisha is an illustrative persona. Every figure comes from her 6-month demo dataset, analysed by the prototype.</a:t>
            </a:r>
            <a:endParaRPr lang="en-US" sz="12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lIns="0" tIns="0" rIns="0" bIns="0" rtlCol="0"/>
          <a:lstStyle/>
          <a:p>
            <a:pPr indent="0" marL="0">
              <a:buNone/>
            </a:pPr>
            <a:r>
              <a:rPr lang="en-US" sz="1400" b="1" spc="200" kern="0" dirty="0">
                <a:solidFill>
                  <a:srgbClr val="F6D9F0"/>
                </a:solidFill>
              </a:rPr>
              <a:t>THE SOLUTION</a:t>
            </a: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lIns="0" tIns="0" rIns="0" bIns="0" rtlCol="0" anchor="t"/>
          <a:lstStyle/>
          <a:p>
            <a:pPr algn="l" indent="0" marL="0">
              <a:buNone/>
            </a:pPr>
            <a:r>
              <a:rPr lang="en-US" sz="3400" b="1" dirty="0">
                <a:solidFill>
                  <a:schemeClr val="bg1"/>
                </a:solidFill>
                <a:latin typeface="Century Gothic" pitchFamily="34" charset="0"/>
                <a:ea typeface="Century Gothic" pitchFamily="34" charset="-122"/>
                <a:cs typeface="Century Gothic" pitchFamily="34" charset="-120"/>
              </a:rPr>
              <a:t>NaijaBiz IQ turns Aisha's transactions into answers</a:t>
            </a:r>
            <a:endParaRPr lang="en-US" sz="3400" dirty="0"/>
          </a:p>
        </p:txBody>
      </p:sp>
      <p:sp>
        <p:nvSpPr>
          <p:cNvPr id="4" name="Understand card"/>
          <p:cNvSpPr/>
          <p:nvPr/>
        </p:nvSpPr>
        <p:spPr>
          <a:xfrm>
            <a:off x="685800" y="2240280"/>
            <a:ext cx="1981139" cy="2514600"/>
          </a:xfrm>
          <a:prstGeom prst="roundRect">
            <a:avLst>
              <a:gd name="adj" fmla="val 7385"/>
            </a:avLst>
          </a:prstGeom>
          <a:solidFill>
            <a:srgbClr val="FFFFFF">
              <a:alpha val="12000"/>
            </a:srgbClr>
          </a:solidFill>
          <a:ln w="12700">
            <a:solidFill>
              <a:srgbClr val="FFFFFF">
                <a:alpha val="30000"/>
              </a:srgbClr>
            </a:solidFill>
            <a:prstDash val="solid"/>
          </a:ln>
        </p:spPr>
      </p:sp>
      <p:pic>
        <p:nvPicPr>
          <p:cNvPr id="5" name="Understand icon" descr="C:\Users\kutey\AppData\Local\Temp\claude\c--Users-kutey-OneDrive-Desktop-Projects-Wema-NaijaBiz\f46cdb02-85cc-4916-9858-e468402988e1\scratchpad\pptx\assets\icon-understand.png">    </p:cNvPr>
          <p:cNvPicPr>
            <a:picLocks noChangeAspect="1"/>
          </p:cNvPicPr>
          <p:nvPr/>
        </p:nvPicPr>
        <p:blipFill>
          <a:blip r:embed="rId1"/>
          <a:stretch>
            <a:fillRect/>
          </a:stretch>
        </p:blipFill>
        <p:spPr>
          <a:xfrm>
            <a:off x="960120" y="2514600"/>
            <a:ext cx="502920" cy="502920"/>
          </a:xfrm>
          <a:prstGeom prst="rect">
            <a:avLst/>
          </a:prstGeom>
        </p:spPr>
      </p:pic>
      <p:sp>
        <p:nvSpPr>
          <p:cNvPr id="6" name="Understand title"/>
          <p:cNvSpPr txBox="1"/>
          <p:nvPr/>
        </p:nvSpPr>
        <p:spPr>
          <a:xfrm>
            <a:off x="960120" y="3200400"/>
            <a:ext cx="1432499" cy="411480"/>
          </a:xfrm>
          <a:prstGeom prst="rect">
            <a:avLst/>
          </a:prstGeom>
          <a:noFill/>
          <a:ln/>
        </p:spPr>
        <p:txBody>
          <a:bodyPr wrap="square" lIns="0" tIns="0" rIns="0" bIns="0" rtlCol="0" anchor="t"/>
          <a:lstStyle/>
          <a:p>
            <a:pPr indent="0" marL="0">
              <a:buNone/>
            </a:pPr>
            <a:r>
              <a:rPr lang="en-US" sz="2000" b="1" dirty="0">
                <a:solidFill>
                  <a:schemeClr val="bg1"/>
                </a:solidFill>
                <a:latin typeface="Century Gothic" pitchFamily="34" charset="0"/>
                <a:ea typeface="Century Gothic" pitchFamily="34" charset="-122"/>
                <a:cs typeface="Century Gothic" pitchFamily="34" charset="-120"/>
              </a:rPr>
              <a:t>Understand</a:t>
            </a:r>
            <a:endParaRPr lang="en-US" sz="2000" dirty="0"/>
          </a:p>
        </p:txBody>
      </p:sp>
      <p:sp>
        <p:nvSpPr>
          <p:cNvPr id="7" name="Understand question"/>
          <p:cNvSpPr txBox="1"/>
          <p:nvPr/>
        </p:nvSpPr>
        <p:spPr>
          <a:xfrm>
            <a:off x="960120" y="3657600"/>
            <a:ext cx="1432499" cy="914400"/>
          </a:xfrm>
          <a:prstGeom prst="rect">
            <a:avLst/>
          </a:prstGeom>
          <a:noFill/>
          <a:ln/>
        </p:spPr>
        <p:txBody>
          <a:bodyPr wrap="square" lIns="0" tIns="0" rIns="0" bIns="0" rtlCol="0" anchor="t"/>
          <a:lstStyle/>
          <a:p>
            <a:pPr indent="0" marL="0">
              <a:buNone/>
            </a:pPr>
            <a:r>
              <a:rPr lang="en-US" sz="1500" dirty="0">
                <a:solidFill>
                  <a:srgbClr val="F6D9F0"/>
                </a:solidFill>
              </a:rPr>
              <a:t>What is happening in my business?</a:t>
            </a:r>
            <a:endParaRPr lang="en-US" sz="1500" dirty="0"/>
          </a:p>
        </p:txBody>
      </p:sp>
      <p:sp>
        <p:nvSpPr>
          <p:cNvPr id="8" name="Predict card"/>
          <p:cNvSpPr/>
          <p:nvPr/>
        </p:nvSpPr>
        <p:spPr>
          <a:xfrm>
            <a:off x="2895539" y="2240280"/>
            <a:ext cx="1981139" cy="2514600"/>
          </a:xfrm>
          <a:prstGeom prst="roundRect">
            <a:avLst>
              <a:gd name="adj" fmla="val 7385"/>
            </a:avLst>
          </a:prstGeom>
          <a:solidFill>
            <a:srgbClr val="FFFFFF">
              <a:alpha val="12000"/>
            </a:srgbClr>
          </a:solidFill>
          <a:ln w="12700">
            <a:solidFill>
              <a:srgbClr val="FFFFFF">
                <a:alpha val="30000"/>
              </a:srgbClr>
            </a:solidFill>
            <a:prstDash val="solid"/>
          </a:ln>
        </p:spPr>
      </p:sp>
      <p:pic>
        <p:nvPicPr>
          <p:cNvPr id="9" name="Predict icon" descr="C:\Users\kutey\AppData\Local\Temp\claude\c--Users-kutey-OneDrive-Desktop-Projects-Wema-NaijaBiz\f46cdb02-85cc-4916-9858-e468402988e1\scratchpad\pptx\assets\icon-predict.png">    </p:cNvPr>
          <p:cNvPicPr>
            <a:picLocks noChangeAspect="1"/>
          </p:cNvPicPr>
          <p:nvPr/>
        </p:nvPicPr>
        <p:blipFill>
          <a:blip r:embed="rId2"/>
          <a:stretch>
            <a:fillRect/>
          </a:stretch>
        </p:blipFill>
        <p:spPr>
          <a:xfrm>
            <a:off x="3169859" y="2514600"/>
            <a:ext cx="502920" cy="502920"/>
          </a:xfrm>
          <a:prstGeom prst="rect">
            <a:avLst/>
          </a:prstGeom>
        </p:spPr>
      </p:pic>
      <p:sp>
        <p:nvSpPr>
          <p:cNvPr id="10" name="Predict title"/>
          <p:cNvSpPr txBox="1"/>
          <p:nvPr/>
        </p:nvSpPr>
        <p:spPr>
          <a:xfrm>
            <a:off x="3169859" y="3200400"/>
            <a:ext cx="1432499" cy="411480"/>
          </a:xfrm>
          <a:prstGeom prst="rect">
            <a:avLst/>
          </a:prstGeom>
          <a:noFill/>
          <a:ln/>
        </p:spPr>
        <p:txBody>
          <a:bodyPr wrap="square" lIns="0" tIns="0" rIns="0" bIns="0" rtlCol="0" anchor="t"/>
          <a:lstStyle/>
          <a:p>
            <a:pPr indent="0" marL="0">
              <a:buNone/>
            </a:pPr>
            <a:r>
              <a:rPr lang="en-US" sz="2000" b="1" dirty="0">
                <a:solidFill>
                  <a:schemeClr val="bg1"/>
                </a:solidFill>
                <a:latin typeface="Century Gothic" pitchFamily="34" charset="0"/>
                <a:ea typeface="Century Gothic" pitchFamily="34" charset="-122"/>
                <a:cs typeface="Century Gothic" pitchFamily="34" charset="-120"/>
              </a:rPr>
              <a:t>Predict</a:t>
            </a:r>
            <a:endParaRPr lang="en-US" sz="2000" dirty="0"/>
          </a:p>
        </p:txBody>
      </p:sp>
      <p:sp>
        <p:nvSpPr>
          <p:cNvPr id="11" name="Predict question"/>
          <p:cNvSpPr txBox="1"/>
          <p:nvPr/>
        </p:nvSpPr>
        <p:spPr>
          <a:xfrm>
            <a:off x="3169859" y="3657600"/>
            <a:ext cx="1432499" cy="914400"/>
          </a:xfrm>
          <a:prstGeom prst="rect">
            <a:avLst/>
          </a:prstGeom>
          <a:noFill/>
          <a:ln/>
        </p:spPr>
        <p:txBody>
          <a:bodyPr wrap="square" lIns="0" tIns="0" rIns="0" bIns="0" rtlCol="0" anchor="t"/>
          <a:lstStyle/>
          <a:p>
            <a:pPr indent="0" marL="0">
              <a:buNone/>
            </a:pPr>
            <a:r>
              <a:rPr lang="en-US" sz="1500" dirty="0">
                <a:solidFill>
                  <a:srgbClr val="F6D9F0"/>
                </a:solidFill>
              </a:rPr>
              <a:t>What is likely to happen next?</a:t>
            </a:r>
            <a:endParaRPr lang="en-US" sz="1500" dirty="0"/>
          </a:p>
        </p:txBody>
      </p:sp>
      <p:sp>
        <p:nvSpPr>
          <p:cNvPr id="12" name="Advise card"/>
          <p:cNvSpPr/>
          <p:nvPr/>
        </p:nvSpPr>
        <p:spPr>
          <a:xfrm>
            <a:off x="5105278" y="2240280"/>
            <a:ext cx="1981139" cy="2514600"/>
          </a:xfrm>
          <a:prstGeom prst="roundRect">
            <a:avLst>
              <a:gd name="adj" fmla="val 7385"/>
            </a:avLst>
          </a:prstGeom>
          <a:solidFill>
            <a:srgbClr val="FFFFFF">
              <a:alpha val="12000"/>
            </a:srgbClr>
          </a:solidFill>
          <a:ln w="12700">
            <a:solidFill>
              <a:srgbClr val="FFFFFF">
                <a:alpha val="30000"/>
              </a:srgbClr>
            </a:solidFill>
            <a:prstDash val="solid"/>
          </a:ln>
        </p:spPr>
      </p:sp>
      <p:pic>
        <p:nvPicPr>
          <p:cNvPr id="13" name="Advise icon" descr="C:\Users\kutey\AppData\Local\Temp\claude\c--Users-kutey-OneDrive-Desktop-Projects-Wema-NaijaBiz\f46cdb02-85cc-4916-9858-e468402988e1\scratchpad\pptx\assets\icon-advise.png">    </p:cNvPr>
          <p:cNvPicPr>
            <a:picLocks noChangeAspect="1"/>
          </p:cNvPicPr>
          <p:nvPr/>
        </p:nvPicPr>
        <p:blipFill>
          <a:blip r:embed="rId3"/>
          <a:stretch>
            <a:fillRect/>
          </a:stretch>
        </p:blipFill>
        <p:spPr>
          <a:xfrm>
            <a:off x="5379598" y="2514600"/>
            <a:ext cx="502920" cy="502920"/>
          </a:xfrm>
          <a:prstGeom prst="rect">
            <a:avLst/>
          </a:prstGeom>
        </p:spPr>
      </p:pic>
      <p:sp>
        <p:nvSpPr>
          <p:cNvPr id="14" name="Advise title"/>
          <p:cNvSpPr txBox="1"/>
          <p:nvPr/>
        </p:nvSpPr>
        <p:spPr>
          <a:xfrm>
            <a:off x="5379598" y="3200400"/>
            <a:ext cx="1432499" cy="411480"/>
          </a:xfrm>
          <a:prstGeom prst="rect">
            <a:avLst/>
          </a:prstGeom>
          <a:noFill/>
          <a:ln/>
        </p:spPr>
        <p:txBody>
          <a:bodyPr wrap="square" lIns="0" tIns="0" rIns="0" bIns="0" rtlCol="0" anchor="t"/>
          <a:lstStyle/>
          <a:p>
            <a:pPr indent="0" marL="0">
              <a:buNone/>
            </a:pPr>
            <a:r>
              <a:rPr lang="en-US" sz="2000" b="1" dirty="0">
                <a:solidFill>
                  <a:schemeClr val="bg1"/>
                </a:solidFill>
                <a:latin typeface="Century Gothic" pitchFamily="34" charset="0"/>
                <a:ea typeface="Century Gothic" pitchFamily="34" charset="-122"/>
                <a:cs typeface="Century Gothic" pitchFamily="34" charset="-120"/>
              </a:rPr>
              <a:t>Advise</a:t>
            </a:r>
            <a:endParaRPr lang="en-US" sz="2000" dirty="0"/>
          </a:p>
        </p:txBody>
      </p:sp>
      <p:sp>
        <p:nvSpPr>
          <p:cNvPr id="15" name="Advise question"/>
          <p:cNvSpPr txBox="1"/>
          <p:nvPr/>
        </p:nvSpPr>
        <p:spPr>
          <a:xfrm>
            <a:off x="5379598" y="3657600"/>
            <a:ext cx="1432499" cy="914400"/>
          </a:xfrm>
          <a:prstGeom prst="rect">
            <a:avLst/>
          </a:prstGeom>
          <a:noFill/>
          <a:ln/>
        </p:spPr>
        <p:txBody>
          <a:bodyPr wrap="square" lIns="0" tIns="0" rIns="0" bIns="0" rtlCol="0" anchor="t"/>
          <a:lstStyle/>
          <a:p>
            <a:pPr indent="0" marL="0">
              <a:buNone/>
            </a:pPr>
            <a:r>
              <a:rPr lang="en-US" sz="1500" dirty="0">
                <a:solidFill>
                  <a:srgbClr val="F6D9F0"/>
                </a:solidFill>
              </a:rPr>
              <a:t>What should I do about it?</a:t>
            </a:r>
            <a:endParaRPr lang="en-US" sz="1500" dirty="0"/>
          </a:p>
        </p:txBody>
      </p:sp>
      <p:sp>
        <p:nvSpPr>
          <p:cNvPr id="16" name="Decide card"/>
          <p:cNvSpPr/>
          <p:nvPr/>
        </p:nvSpPr>
        <p:spPr>
          <a:xfrm>
            <a:off x="7315017" y="2240280"/>
            <a:ext cx="1981139" cy="2514600"/>
          </a:xfrm>
          <a:prstGeom prst="roundRect">
            <a:avLst>
              <a:gd name="adj" fmla="val 7385"/>
            </a:avLst>
          </a:prstGeom>
          <a:solidFill>
            <a:srgbClr val="FFFFFF">
              <a:alpha val="12000"/>
            </a:srgbClr>
          </a:solidFill>
          <a:ln w="12700">
            <a:solidFill>
              <a:srgbClr val="FFFFFF">
                <a:alpha val="30000"/>
              </a:srgbClr>
            </a:solidFill>
            <a:prstDash val="solid"/>
          </a:ln>
        </p:spPr>
      </p:sp>
      <p:pic>
        <p:nvPicPr>
          <p:cNvPr id="17" name="Decide icon" descr="C:\Users\kutey\AppData\Local\Temp\claude\c--Users-kutey-OneDrive-Desktop-Projects-Wema-NaijaBiz\f46cdb02-85cc-4916-9858-e468402988e1\scratchpad\pptx\assets\icon-decide.png">    </p:cNvPr>
          <p:cNvPicPr>
            <a:picLocks noChangeAspect="1"/>
          </p:cNvPicPr>
          <p:nvPr/>
        </p:nvPicPr>
        <p:blipFill>
          <a:blip r:embed="rId4"/>
          <a:stretch>
            <a:fillRect/>
          </a:stretch>
        </p:blipFill>
        <p:spPr>
          <a:xfrm>
            <a:off x="7589337" y="2514600"/>
            <a:ext cx="502920" cy="502920"/>
          </a:xfrm>
          <a:prstGeom prst="rect">
            <a:avLst/>
          </a:prstGeom>
        </p:spPr>
      </p:pic>
      <p:sp>
        <p:nvSpPr>
          <p:cNvPr id="18" name="Decide title"/>
          <p:cNvSpPr txBox="1"/>
          <p:nvPr/>
        </p:nvSpPr>
        <p:spPr>
          <a:xfrm>
            <a:off x="7589337" y="3200400"/>
            <a:ext cx="1432499" cy="411480"/>
          </a:xfrm>
          <a:prstGeom prst="rect">
            <a:avLst/>
          </a:prstGeom>
          <a:noFill/>
          <a:ln/>
        </p:spPr>
        <p:txBody>
          <a:bodyPr wrap="square" lIns="0" tIns="0" rIns="0" bIns="0" rtlCol="0" anchor="t"/>
          <a:lstStyle/>
          <a:p>
            <a:pPr indent="0" marL="0">
              <a:buNone/>
            </a:pPr>
            <a:r>
              <a:rPr lang="en-US" sz="2000" b="1" dirty="0">
                <a:solidFill>
                  <a:schemeClr val="bg1"/>
                </a:solidFill>
                <a:latin typeface="Century Gothic" pitchFamily="34" charset="0"/>
                <a:ea typeface="Century Gothic" pitchFamily="34" charset="-122"/>
                <a:cs typeface="Century Gothic" pitchFamily="34" charset="-120"/>
              </a:rPr>
              <a:t>Decide</a:t>
            </a:r>
            <a:endParaRPr lang="en-US" sz="2000" dirty="0"/>
          </a:p>
        </p:txBody>
      </p:sp>
      <p:sp>
        <p:nvSpPr>
          <p:cNvPr id="19" name="Decide question"/>
          <p:cNvSpPr txBox="1"/>
          <p:nvPr/>
        </p:nvSpPr>
        <p:spPr>
          <a:xfrm>
            <a:off x="7589337" y="3657600"/>
            <a:ext cx="1432499" cy="914400"/>
          </a:xfrm>
          <a:prstGeom prst="rect">
            <a:avLst/>
          </a:prstGeom>
          <a:noFill/>
          <a:ln/>
        </p:spPr>
        <p:txBody>
          <a:bodyPr wrap="square" lIns="0" tIns="0" rIns="0" bIns="0" rtlCol="0" anchor="t"/>
          <a:lstStyle/>
          <a:p>
            <a:pPr indent="0" marL="0">
              <a:buNone/>
            </a:pPr>
            <a:r>
              <a:rPr lang="en-US" sz="1500" dirty="0">
                <a:solidFill>
                  <a:srgbClr val="F6D9F0"/>
                </a:solidFill>
              </a:rPr>
              <a:t>Can I afford this purchase?</a:t>
            </a:r>
            <a:endParaRPr lang="en-US" sz="1500" dirty="0"/>
          </a:p>
        </p:txBody>
      </p:sp>
      <p:sp>
        <p:nvSpPr>
          <p:cNvPr id="20" name="Get ready card"/>
          <p:cNvSpPr/>
          <p:nvPr/>
        </p:nvSpPr>
        <p:spPr>
          <a:xfrm>
            <a:off x="9524756" y="2240280"/>
            <a:ext cx="1981139" cy="2514600"/>
          </a:xfrm>
          <a:prstGeom prst="roundRect">
            <a:avLst>
              <a:gd name="adj" fmla="val 7385"/>
            </a:avLst>
          </a:prstGeom>
          <a:solidFill>
            <a:srgbClr val="FFFFFF">
              <a:alpha val="12000"/>
            </a:srgbClr>
          </a:solidFill>
          <a:ln w="12700">
            <a:solidFill>
              <a:srgbClr val="FFFFFF">
                <a:alpha val="30000"/>
              </a:srgbClr>
            </a:solidFill>
            <a:prstDash val="solid"/>
          </a:ln>
        </p:spPr>
      </p:sp>
      <p:pic>
        <p:nvPicPr>
          <p:cNvPr id="21" name="Get ready icon" descr="C:\Users\kutey\AppData\Local\Temp\claude\c--Users-kutey-OneDrive-Desktop-Projects-Wema-NaijaBiz\f46cdb02-85cc-4916-9858-e468402988e1\scratchpad\pptx\assets\icon-ready.png">    </p:cNvPr>
          <p:cNvPicPr>
            <a:picLocks noChangeAspect="1"/>
          </p:cNvPicPr>
          <p:nvPr/>
        </p:nvPicPr>
        <p:blipFill>
          <a:blip r:embed="rId5"/>
          <a:stretch>
            <a:fillRect/>
          </a:stretch>
        </p:blipFill>
        <p:spPr>
          <a:xfrm>
            <a:off x="9799076" y="2514600"/>
            <a:ext cx="502920" cy="502920"/>
          </a:xfrm>
          <a:prstGeom prst="rect">
            <a:avLst/>
          </a:prstGeom>
        </p:spPr>
      </p:pic>
      <p:sp>
        <p:nvSpPr>
          <p:cNvPr id="22" name="Get ready title"/>
          <p:cNvSpPr txBox="1"/>
          <p:nvPr/>
        </p:nvSpPr>
        <p:spPr>
          <a:xfrm>
            <a:off x="9799076" y="3200400"/>
            <a:ext cx="1432499" cy="411480"/>
          </a:xfrm>
          <a:prstGeom prst="rect">
            <a:avLst/>
          </a:prstGeom>
          <a:noFill/>
          <a:ln/>
        </p:spPr>
        <p:txBody>
          <a:bodyPr wrap="square" lIns="0" tIns="0" rIns="0" bIns="0" rtlCol="0" anchor="t"/>
          <a:lstStyle/>
          <a:p>
            <a:pPr indent="0" marL="0">
              <a:buNone/>
            </a:pPr>
            <a:r>
              <a:rPr lang="en-US" sz="2000" b="1" dirty="0">
                <a:solidFill>
                  <a:schemeClr val="bg1"/>
                </a:solidFill>
                <a:latin typeface="Century Gothic" pitchFamily="34" charset="0"/>
                <a:ea typeface="Century Gothic" pitchFamily="34" charset="-122"/>
                <a:cs typeface="Century Gothic" pitchFamily="34" charset="-120"/>
              </a:rPr>
              <a:t>Get ready</a:t>
            </a:r>
            <a:endParaRPr lang="en-US" sz="2000" dirty="0"/>
          </a:p>
        </p:txBody>
      </p:sp>
      <p:sp>
        <p:nvSpPr>
          <p:cNvPr id="23" name="Get ready question"/>
          <p:cNvSpPr txBox="1"/>
          <p:nvPr/>
        </p:nvSpPr>
        <p:spPr>
          <a:xfrm>
            <a:off x="9799076" y="3657600"/>
            <a:ext cx="1432499" cy="914400"/>
          </a:xfrm>
          <a:prstGeom prst="rect">
            <a:avLst/>
          </a:prstGeom>
          <a:noFill/>
          <a:ln/>
        </p:spPr>
        <p:txBody>
          <a:bodyPr wrap="square" lIns="0" tIns="0" rIns="0" bIns="0" rtlCol="0" anchor="t"/>
          <a:lstStyle/>
          <a:p>
            <a:pPr indent="0" marL="0">
              <a:buNone/>
            </a:pPr>
            <a:r>
              <a:rPr lang="en-US" sz="1500" dirty="0">
                <a:solidFill>
                  <a:srgbClr val="F6D9F0"/>
                </a:solidFill>
              </a:rPr>
              <a:t>Am I building healthy financial habits?</a:t>
            </a:r>
            <a:endParaRPr lang="en-US" sz="1500" dirty="0"/>
          </a:p>
        </p:txBody>
      </p:sp>
      <p:sp>
        <p:nvSpPr>
          <p:cNvPr id="24" name="Positioning"/>
          <p:cNvSpPr txBox="1"/>
          <p:nvPr/>
        </p:nvSpPr>
        <p:spPr>
          <a:xfrm>
            <a:off x="685800" y="5120640"/>
            <a:ext cx="10820095" cy="548640"/>
          </a:xfrm>
          <a:prstGeom prst="rect">
            <a:avLst/>
          </a:prstGeom>
          <a:noFill/>
          <a:ln/>
        </p:spPr>
        <p:txBody>
          <a:bodyPr wrap="square" lIns="0" tIns="0" rIns="0" bIns="0" rtlCol="0" anchor="t"/>
          <a:lstStyle/>
          <a:p>
            <a:pPr indent="0" marL="0">
              <a:buNone/>
            </a:pPr>
            <a:r>
              <a:rPr lang="en-US" sz="1800" dirty="0">
                <a:solidFill>
                  <a:schemeClr val="bg1"/>
                </a:solidFill>
              </a:rPr>
              <a:t>Not accounting software. A financial intelligence layer on top of the bank account Aisha already uses.</a:t>
            </a:r>
            <a:endParaRPr lang="en-US" sz="18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F6D9F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lIns="0" tIns="0" rIns="0" bIns="0" rtlCol="0"/>
          <a:lstStyle/>
          <a:p>
            <a:pPr indent="0" marL="0">
              <a:buNone/>
            </a:pPr>
            <a:r>
              <a:rPr lang="en-US" sz="1400" b="1" spc="200" kern="0" dirty="0">
                <a:solidFill>
                  <a:schemeClr val="accent1"/>
                </a:solidFill>
              </a:rPr>
              <a:t>HOW IT WORKS</a:t>
            </a: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lIns="0" tIns="0" rIns="0" bIns="0" rtlCol="0" anchor="t"/>
          <a:lstStyle/>
          <a:p>
            <a:pPr algn="l" indent="0" marL="0">
              <a:buNone/>
            </a:pPr>
            <a:r>
              <a:rPr lang="en-US" sz="3400" b="1" dirty="0">
                <a:solidFill>
                  <a:schemeClr val="tx1"/>
                </a:solidFill>
                <a:latin typeface="Century Gothic" pitchFamily="34" charset="0"/>
                <a:ea typeface="Century Gothic" pitchFamily="34" charset="-122"/>
                <a:cs typeface="Century Gothic" pitchFamily="34" charset="-120"/>
              </a:rPr>
              <a:t>From transaction to decision</a:t>
            </a:r>
            <a:endParaRPr lang="en-US" sz="3400" dirty="0"/>
          </a:p>
        </p:txBody>
      </p:sp>
      <p:sp>
        <p:nvSpPr>
          <p:cNvPr id="4" name="Step 1 card"/>
          <p:cNvSpPr/>
          <p:nvPr/>
        </p:nvSpPr>
        <p:spPr>
          <a:xfrm>
            <a:off x="685800" y="1965960"/>
            <a:ext cx="3454298" cy="1463040"/>
          </a:xfrm>
          <a:prstGeom prst="roundRect">
            <a:avLst>
              <a:gd name="adj" fmla="val 10000"/>
            </a:avLst>
          </a:prstGeom>
          <a:solidFill>
            <a:srgbClr val="FFFFFF"/>
          </a:solidFill>
          <a:ln w="12700">
            <a:solidFill>
              <a:srgbClr val="E7DCE5"/>
            </a:solidFill>
            <a:prstDash val="solid"/>
          </a:ln>
        </p:spPr>
      </p:sp>
      <p:sp>
        <p:nvSpPr>
          <p:cNvPr id="5" name="Step 1 label"/>
          <p:cNvSpPr txBox="1"/>
          <p:nvPr/>
        </p:nvSpPr>
        <p:spPr>
          <a:xfrm>
            <a:off x="960120" y="2167128"/>
            <a:ext cx="2905658"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STEP 1</a:t>
            </a:r>
            <a:endParaRPr lang="en-US" sz="1200" dirty="0"/>
          </a:p>
        </p:txBody>
      </p:sp>
      <p:sp>
        <p:nvSpPr>
          <p:cNvPr id="6" name="Step 1 title"/>
          <p:cNvSpPr txBox="1"/>
          <p:nvPr/>
        </p:nvSpPr>
        <p:spPr>
          <a:xfrm>
            <a:off x="960120" y="2441448"/>
            <a:ext cx="2905658" cy="41148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Read</a:t>
            </a:r>
            <a:endParaRPr lang="en-US" sz="2000" dirty="0"/>
          </a:p>
        </p:txBody>
      </p:sp>
      <p:sp>
        <p:nvSpPr>
          <p:cNvPr id="7" name="Step 1 detail"/>
          <p:cNvSpPr txBox="1"/>
          <p:nvPr/>
        </p:nvSpPr>
        <p:spPr>
          <a:xfrm>
            <a:off x="960120" y="2880360"/>
            <a:ext cx="2905658" cy="457200"/>
          </a:xfrm>
          <a:prstGeom prst="rect">
            <a:avLst/>
          </a:prstGeom>
          <a:noFill/>
          <a:ln/>
        </p:spPr>
        <p:txBody>
          <a:bodyPr wrap="square" lIns="0" tIns="0" rIns="0" bIns="0" rtlCol="0" anchor="t"/>
          <a:lstStyle/>
          <a:p>
            <a:pPr indent="0" marL="0">
              <a:buNone/>
            </a:pPr>
            <a:r>
              <a:rPr lang="en-US" sz="1500" dirty="0">
                <a:solidFill>
                  <a:schemeClr val="accent3"/>
                </a:solidFill>
              </a:rPr>
              <a:t>247 transactions from Aisha's Wema account</a:t>
            </a:r>
            <a:endParaRPr lang="en-US" sz="1500" dirty="0"/>
          </a:p>
        </p:txBody>
      </p:sp>
      <p:sp>
        <p:nvSpPr>
          <p:cNvPr id="8" name="Step 2 card"/>
          <p:cNvSpPr/>
          <p:nvPr/>
        </p:nvSpPr>
        <p:spPr>
          <a:xfrm>
            <a:off x="4368698" y="1965960"/>
            <a:ext cx="3454298" cy="1463040"/>
          </a:xfrm>
          <a:prstGeom prst="roundRect">
            <a:avLst>
              <a:gd name="adj" fmla="val 10000"/>
            </a:avLst>
          </a:prstGeom>
          <a:solidFill>
            <a:srgbClr val="FFFFFF"/>
          </a:solidFill>
          <a:ln w="12700">
            <a:solidFill>
              <a:srgbClr val="E7DCE5"/>
            </a:solidFill>
            <a:prstDash val="solid"/>
          </a:ln>
        </p:spPr>
      </p:sp>
      <p:sp>
        <p:nvSpPr>
          <p:cNvPr id="9" name="Step 2 label"/>
          <p:cNvSpPr txBox="1"/>
          <p:nvPr/>
        </p:nvSpPr>
        <p:spPr>
          <a:xfrm>
            <a:off x="4643018" y="2167128"/>
            <a:ext cx="2905658"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STEP 2</a:t>
            </a:r>
            <a:endParaRPr lang="en-US" sz="1200" dirty="0"/>
          </a:p>
        </p:txBody>
      </p:sp>
      <p:sp>
        <p:nvSpPr>
          <p:cNvPr id="10" name="Step 2 title"/>
          <p:cNvSpPr txBox="1"/>
          <p:nvPr/>
        </p:nvSpPr>
        <p:spPr>
          <a:xfrm>
            <a:off x="4643018" y="2441448"/>
            <a:ext cx="2905658" cy="41148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Categorize</a:t>
            </a:r>
            <a:endParaRPr lang="en-US" sz="2000" dirty="0"/>
          </a:p>
        </p:txBody>
      </p:sp>
      <p:sp>
        <p:nvSpPr>
          <p:cNvPr id="11" name="Step 2 detail"/>
          <p:cNvSpPr txBox="1"/>
          <p:nvPr/>
        </p:nvSpPr>
        <p:spPr>
          <a:xfrm>
            <a:off x="4643018" y="2880360"/>
            <a:ext cx="2905658" cy="457200"/>
          </a:xfrm>
          <a:prstGeom prst="rect">
            <a:avLst/>
          </a:prstGeom>
          <a:noFill/>
          <a:ln/>
        </p:spPr>
        <p:txBody>
          <a:bodyPr wrap="square" lIns="0" tIns="0" rIns="0" bIns="0" rtlCol="0" anchor="t"/>
          <a:lstStyle/>
          <a:p>
            <a:pPr indent="0" marL="0">
              <a:buNone/>
            </a:pPr>
            <a:r>
              <a:rPr lang="en-US" sz="1500" dirty="0">
                <a:solidFill>
                  <a:schemeClr val="accent3"/>
                </a:solidFill>
              </a:rPr>
              <a:t>97.6% correct. When it isn't sure, it asks.</a:t>
            </a:r>
            <a:endParaRPr lang="en-US" sz="1500" dirty="0"/>
          </a:p>
        </p:txBody>
      </p:sp>
      <p:sp>
        <p:nvSpPr>
          <p:cNvPr id="12" name="Step 3 card"/>
          <p:cNvSpPr/>
          <p:nvPr/>
        </p:nvSpPr>
        <p:spPr>
          <a:xfrm>
            <a:off x="8051597" y="1965960"/>
            <a:ext cx="3454298" cy="1463040"/>
          </a:xfrm>
          <a:prstGeom prst="roundRect">
            <a:avLst>
              <a:gd name="adj" fmla="val 10000"/>
            </a:avLst>
          </a:prstGeom>
          <a:solidFill>
            <a:srgbClr val="FFFFFF"/>
          </a:solidFill>
          <a:ln w="12700">
            <a:solidFill>
              <a:srgbClr val="E7DCE5"/>
            </a:solidFill>
            <a:prstDash val="solid"/>
          </a:ln>
        </p:spPr>
      </p:sp>
      <p:sp>
        <p:nvSpPr>
          <p:cNvPr id="13" name="Step 3 label"/>
          <p:cNvSpPr txBox="1"/>
          <p:nvPr/>
        </p:nvSpPr>
        <p:spPr>
          <a:xfrm>
            <a:off x="8325917" y="2167128"/>
            <a:ext cx="2905658"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STEP 3</a:t>
            </a:r>
            <a:endParaRPr lang="en-US" sz="1200" dirty="0"/>
          </a:p>
        </p:txBody>
      </p:sp>
      <p:sp>
        <p:nvSpPr>
          <p:cNvPr id="14" name="Step 3 title"/>
          <p:cNvSpPr txBox="1"/>
          <p:nvPr/>
        </p:nvSpPr>
        <p:spPr>
          <a:xfrm>
            <a:off x="8325917" y="2441448"/>
            <a:ext cx="2905658" cy="41148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Calculate</a:t>
            </a:r>
            <a:endParaRPr lang="en-US" sz="2000" dirty="0"/>
          </a:p>
        </p:txBody>
      </p:sp>
      <p:sp>
        <p:nvSpPr>
          <p:cNvPr id="15" name="Step 3 detail"/>
          <p:cNvSpPr txBox="1"/>
          <p:nvPr/>
        </p:nvSpPr>
        <p:spPr>
          <a:xfrm>
            <a:off x="8325917" y="2880360"/>
            <a:ext cx="2905658" cy="457200"/>
          </a:xfrm>
          <a:prstGeom prst="rect">
            <a:avLst/>
          </a:prstGeom>
          <a:noFill/>
          <a:ln/>
        </p:spPr>
        <p:txBody>
          <a:bodyPr wrap="square" lIns="0" tIns="0" rIns="0" bIns="0" rtlCol="0" anchor="t"/>
          <a:lstStyle/>
          <a:p>
            <a:pPr indent="0" marL="0">
              <a:buNone/>
            </a:pPr>
            <a:r>
              <a:rPr lang="en-US" sz="1500" dirty="0">
                <a:solidFill>
                  <a:schemeClr val="accent3"/>
                </a:solidFill>
              </a:rPr>
              <a:t>Sales, spending, cash flow and a safety reserve</a:t>
            </a:r>
            <a:endParaRPr lang="en-US" sz="1500" dirty="0"/>
          </a:p>
        </p:txBody>
      </p:sp>
      <p:sp>
        <p:nvSpPr>
          <p:cNvPr id="16" name="Step 4 card"/>
          <p:cNvSpPr/>
          <p:nvPr/>
        </p:nvSpPr>
        <p:spPr>
          <a:xfrm>
            <a:off x="685800" y="3657600"/>
            <a:ext cx="3454298" cy="1463040"/>
          </a:xfrm>
          <a:prstGeom prst="roundRect">
            <a:avLst>
              <a:gd name="adj" fmla="val 10000"/>
            </a:avLst>
          </a:prstGeom>
          <a:solidFill>
            <a:srgbClr val="FFFFFF"/>
          </a:solidFill>
          <a:ln w="12700">
            <a:solidFill>
              <a:srgbClr val="E7DCE5"/>
            </a:solidFill>
            <a:prstDash val="solid"/>
          </a:ln>
        </p:spPr>
      </p:sp>
      <p:sp>
        <p:nvSpPr>
          <p:cNvPr id="17" name="Step 4 label"/>
          <p:cNvSpPr txBox="1"/>
          <p:nvPr/>
        </p:nvSpPr>
        <p:spPr>
          <a:xfrm>
            <a:off x="960120" y="3858768"/>
            <a:ext cx="2905658"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STEP 4</a:t>
            </a:r>
            <a:endParaRPr lang="en-US" sz="1200" dirty="0"/>
          </a:p>
        </p:txBody>
      </p:sp>
      <p:sp>
        <p:nvSpPr>
          <p:cNvPr id="18" name="Step 4 title"/>
          <p:cNvSpPr txBox="1"/>
          <p:nvPr/>
        </p:nvSpPr>
        <p:spPr>
          <a:xfrm>
            <a:off x="960120" y="4133088"/>
            <a:ext cx="2905658" cy="41148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Forecast</a:t>
            </a:r>
            <a:endParaRPr lang="en-US" sz="2000" dirty="0"/>
          </a:p>
        </p:txBody>
      </p:sp>
      <p:sp>
        <p:nvSpPr>
          <p:cNvPr id="19" name="Step 4 detail"/>
          <p:cNvSpPr txBox="1"/>
          <p:nvPr/>
        </p:nvSpPr>
        <p:spPr>
          <a:xfrm>
            <a:off x="960120" y="4572000"/>
            <a:ext cx="2905658" cy="457200"/>
          </a:xfrm>
          <a:prstGeom prst="rect">
            <a:avLst/>
          </a:prstGeom>
          <a:noFill/>
          <a:ln/>
        </p:spPr>
        <p:txBody>
          <a:bodyPr wrap="square" lIns="0" tIns="0" rIns="0" bIns="0" rtlCol="0" anchor="t"/>
          <a:lstStyle/>
          <a:p>
            <a:pPr indent="0" marL="0">
              <a:buNone/>
            </a:pPr>
            <a:r>
              <a:rPr lang="en-US" sz="1500" dirty="0">
                <a:solidFill>
                  <a:schemeClr val="accent3"/>
                </a:solidFill>
              </a:rPr>
              <a:t>Day-by-day cash for the next 14 days</a:t>
            </a:r>
            <a:endParaRPr lang="en-US" sz="1500" dirty="0"/>
          </a:p>
        </p:txBody>
      </p:sp>
      <p:sp>
        <p:nvSpPr>
          <p:cNvPr id="20" name="Step 5 card"/>
          <p:cNvSpPr/>
          <p:nvPr/>
        </p:nvSpPr>
        <p:spPr>
          <a:xfrm>
            <a:off x="4368698" y="3657600"/>
            <a:ext cx="3454298" cy="1463040"/>
          </a:xfrm>
          <a:prstGeom prst="roundRect">
            <a:avLst>
              <a:gd name="adj" fmla="val 10000"/>
            </a:avLst>
          </a:prstGeom>
          <a:solidFill>
            <a:srgbClr val="FFFFFF"/>
          </a:solidFill>
          <a:ln w="12700">
            <a:solidFill>
              <a:srgbClr val="E7DCE5"/>
            </a:solidFill>
            <a:prstDash val="solid"/>
          </a:ln>
        </p:spPr>
      </p:sp>
      <p:sp>
        <p:nvSpPr>
          <p:cNvPr id="21" name="Step 5 label"/>
          <p:cNvSpPr txBox="1"/>
          <p:nvPr/>
        </p:nvSpPr>
        <p:spPr>
          <a:xfrm>
            <a:off x="4643018" y="3858768"/>
            <a:ext cx="2905658"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STEP 5</a:t>
            </a:r>
            <a:endParaRPr lang="en-US" sz="1200" dirty="0"/>
          </a:p>
        </p:txBody>
      </p:sp>
      <p:sp>
        <p:nvSpPr>
          <p:cNvPr id="22" name="Step 5 title"/>
          <p:cNvSpPr txBox="1"/>
          <p:nvPr/>
        </p:nvSpPr>
        <p:spPr>
          <a:xfrm>
            <a:off x="4643018" y="4133088"/>
            <a:ext cx="2905658" cy="41148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Advise</a:t>
            </a:r>
            <a:endParaRPr lang="en-US" sz="2000" dirty="0"/>
          </a:p>
        </p:txBody>
      </p:sp>
      <p:sp>
        <p:nvSpPr>
          <p:cNvPr id="23" name="Step 5 detail"/>
          <p:cNvSpPr txBox="1"/>
          <p:nvPr/>
        </p:nvSpPr>
        <p:spPr>
          <a:xfrm>
            <a:off x="4643018" y="4572000"/>
            <a:ext cx="2905658" cy="457200"/>
          </a:xfrm>
          <a:prstGeom prst="rect">
            <a:avLst/>
          </a:prstGeom>
          <a:noFill/>
          <a:ln/>
        </p:spPr>
        <p:txBody>
          <a:bodyPr wrap="square" lIns="0" tIns="0" rIns="0" bIns="0" rtlCol="0" anchor="t"/>
          <a:lstStyle/>
          <a:p>
            <a:pPr indent="0" marL="0">
              <a:buNone/>
            </a:pPr>
            <a:r>
              <a:rPr lang="en-US" sz="1500" dirty="0">
                <a:solidFill>
                  <a:schemeClr val="accent3"/>
                </a:solidFill>
              </a:rPr>
              <a:t>Ranked actions and a Business Health Score</a:t>
            </a:r>
            <a:endParaRPr lang="en-US" sz="1500" dirty="0"/>
          </a:p>
        </p:txBody>
      </p:sp>
      <p:sp>
        <p:nvSpPr>
          <p:cNvPr id="24" name="Step 6 card"/>
          <p:cNvSpPr/>
          <p:nvPr/>
        </p:nvSpPr>
        <p:spPr>
          <a:xfrm>
            <a:off x="8051597" y="3657600"/>
            <a:ext cx="3454298" cy="1463040"/>
          </a:xfrm>
          <a:prstGeom prst="roundRect">
            <a:avLst>
              <a:gd name="adj" fmla="val 10000"/>
            </a:avLst>
          </a:prstGeom>
          <a:solidFill>
            <a:srgbClr val="FFFFFF"/>
          </a:solidFill>
          <a:ln w="12700">
            <a:solidFill>
              <a:srgbClr val="E7DCE5"/>
            </a:solidFill>
            <a:prstDash val="solid"/>
          </a:ln>
        </p:spPr>
      </p:sp>
      <p:sp>
        <p:nvSpPr>
          <p:cNvPr id="25" name="Step 6 label"/>
          <p:cNvSpPr txBox="1"/>
          <p:nvPr/>
        </p:nvSpPr>
        <p:spPr>
          <a:xfrm>
            <a:off x="8325917" y="3858768"/>
            <a:ext cx="2905658"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STEP 6</a:t>
            </a:r>
            <a:endParaRPr lang="en-US" sz="1200" dirty="0"/>
          </a:p>
        </p:txBody>
      </p:sp>
      <p:sp>
        <p:nvSpPr>
          <p:cNvPr id="26" name="Step 6 title"/>
          <p:cNvSpPr txBox="1"/>
          <p:nvPr/>
        </p:nvSpPr>
        <p:spPr>
          <a:xfrm>
            <a:off x="8325917" y="4133088"/>
            <a:ext cx="2905658" cy="41148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Decide</a:t>
            </a:r>
            <a:endParaRPr lang="en-US" sz="2000" dirty="0"/>
          </a:p>
        </p:txBody>
      </p:sp>
      <p:sp>
        <p:nvSpPr>
          <p:cNvPr id="27" name="Step 6 detail"/>
          <p:cNvSpPr txBox="1"/>
          <p:nvPr/>
        </p:nvSpPr>
        <p:spPr>
          <a:xfrm>
            <a:off x="8325917" y="4572000"/>
            <a:ext cx="2905658" cy="457200"/>
          </a:xfrm>
          <a:prstGeom prst="rect">
            <a:avLst/>
          </a:prstGeom>
          <a:noFill/>
          <a:ln/>
        </p:spPr>
        <p:txBody>
          <a:bodyPr wrap="square" lIns="0" tIns="0" rIns="0" bIns="0" rtlCol="0" anchor="t"/>
          <a:lstStyle/>
          <a:p>
            <a:pPr indent="0" marL="0">
              <a:buNone/>
            </a:pPr>
            <a:r>
              <a:rPr lang="en-US" sz="1500" dirty="0">
                <a:solidFill>
                  <a:schemeClr val="accent3"/>
                </a:solidFill>
              </a:rPr>
              <a:t>Can I afford this? A clear answer, a safer amount</a:t>
            </a:r>
            <a:endParaRPr lang="en-US" sz="1500" dirty="0"/>
          </a:p>
        </p:txBody>
      </p:sp>
      <p:sp>
        <p:nvSpPr>
          <p:cNvPr id="28" name="Principle"/>
          <p:cNvSpPr txBox="1"/>
          <p:nvPr/>
        </p:nvSpPr>
        <p:spPr>
          <a:xfrm>
            <a:off x="685800" y="5440680"/>
            <a:ext cx="10820095" cy="457200"/>
          </a:xfrm>
          <a:prstGeom prst="rect">
            <a:avLst/>
          </a:prstGeom>
          <a:noFill/>
          <a:ln/>
        </p:spPr>
        <p:txBody>
          <a:bodyPr wrap="square" lIns="0" tIns="0" rIns="0" bIns="0" rtlCol="0" anchor="t"/>
          <a:lstStyle/>
          <a:p>
            <a:pPr indent="0" marL="0">
              <a:buNone/>
            </a:pPr>
            <a:r>
              <a:rPr lang="en-US" sz="1700" b="1" dirty="0">
                <a:solidFill>
                  <a:schemeClr val="tx1"/>
                </a:solidFill>
              </a:rPr>
              <a:t>The engine calculates; the insight layer explains. </a:t>
            </a:r>
            <a:pPr indent="0" marL="0">
              <a:buNone/>
            </a:pPr>
            <a:r>
              <a:rPr lang="en-US" sz="1700" dirty="0">
                <a:solidFill>
                  <a:schemeClr val="tx1"/>
                </a:solidFill>
              </a:rPr>
              <a:t>Every number Aisha sees is checked against the engine.</a:t>
            </a:r>
            <a:endParaRPr lang="en-US" sz="17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lIns="0" tIns="0" rIns="0" bIns="0" rtlCol="0"/>
          <a:lstStyle/>
          <a:p>
            <a:pPr indent="0" marL="0">
              <a:buNone/>
            </a:pPr>
            <a:r>
              <a:rPr lang="en-US" sz="1400" b="1" spc="200" kern="0" dirty="0">
                <a:solidFill>
                  <a:schemeClr val="accent1"/>
                </a:solidFill>
              </a:rPr>
              <a:t>THE PRODUCT</a:t>
            </a: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lIns="0" tIns="0" rIns="0" bIns="0" rtlCol="0" anchor="t"/>
          <a:lstStyle/>
          <a:p>
            <a:pPr algn="l" indent="0" marL="0">
              <a:buNone/>
            </a:pPr>
            <a:r>
              <a:rPr lang="en-US" sz="3400" b="1" dirty="0">
                <a:solidFill>
                  <a:schemeClr val="tx1"/>
                </a:solidFill>
                <a:latin typeface="Century Gothic" pitchFamily="34" charset="0"/>
                <a:ea typeface="Century Gothic" pitchFamily="34" charset="-122"/>
                <a:cs typeface="Century Gothic" pitchFamily="34" charset="-120"/>
              </a:rPr>
              <a:t>Aisha's business, in plain words</a:t>
            </a:r>
            <a:endParaRPr lang="en-US" sz="3400" dirty="0"/>
          </a:p>
        </p:txBody>
      </p:sp>
      <p:pic>
        <p:nvPicPr>
          <p:cNvPr id="4" name="Dashboard screenshot" descr="NaijaBiz IQ dashboard for Aisha Mini Mart: key insight, sales, spending, cash balance and Business Health Score">    </p:cNvPr>
          <p:cNvPicPr>
            <a:picLocks noChangeAspect="1"/>
          </p:cNvPicPr>
          <p:nvPr/>
        </p:nvPicPr>
        <p:blipFill>
          <a:blip r:embed="rId1"/>
          <a:stretch>
            <a:fillRect/>
          </a:stretch>
        </p:blipFill>
        <p:spPr>
          <a:xfrm>
            <a:off x="685800" y="1965960"/>
            <a:ext cx="6766560" cy="3804332"/>
          </a:xfrm>
          <a:prstGeom prst="rect">
            <a:avLst/>
          </a:prstGeom>
          <a:effectLst>
            <a:outerShdw sx="100000" sy="100000" kx="0" ky="0" algn="bl" rotWithShape="0" blurRad="228600" dist="76200" dir="5400000">
              <a:srgbClr val="3B1439">
                <a:alpha val="18000"/>
              </a:srgbClr>
            </a:outerShdw>
          </a:effectLst>
        </p:spPr>
      </p:pic>
      <p:sp>
        <p:nvSpPr>
          <p:cNvPr id="5" name="Callout 1 figure"/>
          <p:cNvSpPr txBox="1"/>
          <p:nvPr/>
        </p:nvSpPr>
        <p:spPr>
          <a:xfrm>
            <a:off x="7909560" y="1965960"/>
            <a:ext cx="3596335" cy="45720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+12% vs +31%</a:t>
            </a:r>
            <a:endParaRPr lang="en-US" sz="2600" dirty="0"/>
          </a:p>
        </p:txBody>
      </p:sp>
      <p:sp>
        <p:nvSpPr>
          <p:cNvPr id="6" name="Callout 1 label"/>
          <p:cNvSpPr txBox="1"/>
          <p:nvPr/>
        </p:nvSpPr>
        <p:spPr>
          <a:xfrm>
            <a:off x="7909560" y="2423160"/>
            <a:ext cx="3596335" cy="411480"/>
          </a:xfrm>
          <a:prstGeom prst="rect">
            <a:avLst/>
          </a:prstGeom>
          <a:noFill/>
          <a:ln/>
        </p:spPr>
        <p:txBody>
          <a:bodyPr wrap="square" lIns="0" tIns="0" rIns="0" bIns="0" rtlCol="0" anchor="t"/>
          <a:lstStyle/>
          <a:p>
            <a:pPr indent="0" marL="0">
              <a:buNone/>
            </a:pPr>
            <a:r>
              <a:rPr lang="en-US" sz="1400" dirty="0">
                <a:solidFill>
                  <a:schemeClr val="accent3"/>
                </a:solidFill>
              </a:rPr>
              <a:t>sales vs stock spending, last 3 months</a:t>
            </a:r>
            <a:endParaRPr lang="en-US" sz="1400" dirty="0"/>
          </a:p>
        </p:txBody>
      </p:sp>
      <p:sp>
        <p:nvSpPr>
          <p:cNvPr id="7" name="Callout 2 figure"/>
          <p:cNvSpPr txBox="1"/>
          <p:nvPr/>
        </p:nvSpPr>
        <p:spPr>
          <a:xfrm>
            <a:off x="7909560" y="2926080"/>
            <a:ext cx="3596335" cy="45720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84 → 66</a:t>
            </a:r>
            <a:endParaRPr lang="en-US" sz="2600" dirty="0"/>
          </a:p>
        </p:txBody>
      </p:sp>
      <p:sp>
        <p:nvSpPr>
          <p:cNvPr id="8" name="Callout 2 label"/>
          <p:cNvSpPr txBox="1"/>
          <p:nvPr/>
        </p:nvSpPr>
        <p:spPr>
          <a:xfrm>
            <a:off x="7909560" y="3383280"/>
            <a:ext cx="3596335" cy="411480"/>
          </a:xfrm>
          <a:prstGeom prst="rect">
            <a:avLst/>
          </a:prstGeom>
          <a:noFill/>
          <a:ln/>
        </p:spPr>
        <p:txBody>
          <a:bodyPr wrap="square" lIns="0" tIns="0" rIns="0" bIns="0" rtlCol="0" anchor="t"/>
          <a:lstStyle/>
          <a:p>
            <a:pPr indent="0" marL="0">
              <a:buNone/>
            </a:pPr>
            <a:r>
              <a:rPr lang="en-US" sz="1400" dirty="0">
                <a:solidFill>
                  <a:schemeClr val="accent3"/>
                </a:solidFill>
              </a:rPr>
              <a:t>Business Health Score since 30 June</a:t>
            </a:r>
            <a:endParaRPr lang="en-US" sz="1400" dirty="0"/>
          </a:p>
        </p:txBody>
      </p:sp>
      <p:sp>
        <p:nvSpPr>
          <p:cNvPr id="9" name="Callout 3 figure"/>
          <p:cNvSpPr txBox="1"/>
          <p:nvPr/>
        </p:nvSpPr>
        <p:spPr>
          <a:xfrm>
            <a:off x="7909560" y="3886200"/>
            <a:ext cx="3596335" cy="45720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₦393K</a:t>
            </a:r>
            <a:endParaRPr lang="en-US" sz="2600" dirty="0"/>
          </a:p>
        </p:txBody>
      </p:sp>
      <p:sp>
        <p:nvSpPr>
          <p:cNvPr id="10" name="Callout 3 label"/>
          <p:cNvSpPr txBox="1"/>
          <p:nvPr/>
        </p:nvSpPr>
        <p:spPr>
          <a:xfrm>
            <a:off x="7909560" y="4343400"/>
            <a:ext cx="3596335" cy="411480"/>
          </a:xfrm>
          <a:prstGeom prst="rect">
            <a:avLst/>
          </a:prstGeom>
          <a:noFill/>
          <a:ln/>
        </p:spPr>
        <p:txBody>
          <a:bodyPr wrap="square" lIns="0" tIns="0" rIns="0" bIns="0" rtlCol="0" anchor="t"/>
          <a:lstStyle/>
          <a:p>
            <a:pPr indent="0" marL="0">
              <a:buNone/>
            </a:pPr>
            <a:r>
              <a:rPr lang="en-US" sz="1400" dirty="0">
                <a:solidFill>
                  <a:schemeClr val="accent3"/>
                </a:solidFill>
              </a:rPr>
              <a:t>expected lowest balance, around 12 Oct</a:t>
            </a:r>
            <a:endParaRPr lang="en-US" sz="1400" dirty="0"/>
          </a:p>
        </p:txBody>
      </p:sp>
      <p:sp>
        <p:nvSpPr>
          <p:cNvPr id="11" name="Callout 4 figure"/>
          <p:cNvSpPr txBox="1"/>
          <p:nvPr/>
        </p:nvSpPr>
        <p:spPr>
          <a:xfrm>
            <a:off x="7909560" y="4846320"/>
            <a:ext cx="3596335" cy="45720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7 → 2</a:t>
            </a:r>
            <a:endParaRPr lang="en-US" sz="2600" dirty="0"/>
          </a:p>
        </p:txBody>
      </p:sp>
      <p:sp>
        <p:nvSpPr>
          <p:cNvPr id="12" name="Callout 4 label"/>
          <p:cNvSpPr txBox="1"/>
          <p:nvPr/>
        </p:nvSpPr>
        <p:spPr>
          <a:xfrm>
            <a:off x="7909560" y="5303520"/>
            <a:ext cx="3596335" cy="411480"/>
          </a:xfrm>
          <a:prstGeom prst="rect">
            <a:avLst/>
          </a:prstGeom>
          <a:noFill/>
          <a:ln/>
        </p:spPr>
        <p:txBody>
          <a:bodyPr wrap="square" lIns="0" tIns="0" rIns="0" bIns="0" rtlCol="0" anchor="t"/>
          <a:lstStyle/>
          <a:p>
            <a:pPr indent="0" marL="0">
              <a:buNone/>
            </a:pPr>
            <a:r>
              <a:rPr lang="en-US" sz="1400" dirty="0">
                <a:solidFill>
                  <a:schemeClr val="accent3"/>
                </a:solidFill>
              </a:rPr>
              <a:t>transactions left to review after one answer: it learns</a:t>
            </a:r>
            <a:endParaRPr lang="en-US" sz="14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lIns="0" tIns="0" rIns="0" bIns="0" rtlCol="0"/>
          <a:lstStyle/>
          <a:p>
            <a:pPr indent="0" marL="0">
              <a:buNone/>
            </a:pPr>
            <a:r>
              <a:rPr lang="en-US" sz="1400" b="1" spc="200" kern="0" dirty="0">
                <a:solidFill>
                  <a:schemeClr val="accent1"/>
                </a:solidFill>
              </a:rPr>
              <a:t>THE DECISION</a:t>
            </a: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lIns="0" tIns="0" rIns="0" bIns="0" rtlCol="0" anchor="t"/>
          <a:lstStyle/>
          <a:p>
            <a:pPr algn="l" indent="0" marL="0">
              <a:buNone/>
            </a:pPr>
            <a:r>
              <a:rPr lang="en-US" sz="3400" b="1" dirty="0">
                <a:solidFill>
                  <a:schemeClr val="tx1"/>
                </a:solidFill>
                <a:latin typeface="Century Gothic" pitchFamily="34" charset="0"/>
                <a:ea typeface="Century Gothic" pitchFamily="34" charset="-122"/>
                <a:cs typeface="Century Gothic" pitchFamily="34" charset="-120"/>
              </a:rPr>
              <a:t>Can Aisha afford ₦300,000 of stock?</a:t>
            </a:r>
            <a:endParaRPr lang="en-US" sz="3400" dirty="0"/>
          </a:p>
        </p:txBody>
      </p:sp>
      <p:pic>
        <p:nvPicPr>
          <p:cNvPr id="4" name="Phone screenshot" descr="Can I afford this? screen on a phone showing: You can, but be careful">    </p:cNvPr>
          <p:cNvPicPr>
            <a:picLocks noChangeAspect="1"/>
          </p:cNvPicPr>
          <p:nvPr/>
        </p:nvPicPr>
        <p:blipFill>
          <a:blip r:embed="rId1"/>
          <a:stretch>
            <a:fillRect/>
          </a:stretch>
        </p:blipFill>
        <p:spPr>
          <a:xfrm>
            <a:off x="685800" y="1874520"/>
            <a:ext cx="1880262" cy="4069080"/>
          </a:xfrm>
          <a:prstGeom prst="rect">
            <a:avLst/>
          </a:prstGeom>
          <a:effectLst>
            <a:outerShdw sx="100000" sy="100000" kx="0" ky="0" algn="bl" rotWithShape="0" blurRad="228600" dist="76200" dir="5400000">
              <a:srgbClr val="3B1439">
                <a:alpha val="18000"/>
              </a:srgbClr>
            </a:outerShdw>
          </a:effectLst>
        </p:spPr>
      </p:pic>
      <p:sp>
        <p:nvSpPr>
          <p:cNvPr id="5" name="Verdict"/>
          <p:cNvSpPr txBox="1"/>
          <p:nvPr/>
        </p:nvSpPr>
        <p:spPr>
          <a:xfrm>
            <a:off x="3114702" y="1874520"/>
            <a:ext cx="8391193" cy="640080"/>
          </a:xfrm>
          <a:prstGeom prst="rect">
            <a:avLst/>
          </a:prstGeom>
          <a:noFill/>
          <a:ln/>
        </p:spPr>
        <p:txBody>
          <a:bodyPr wrap="square" lIns="0" tIns="0" rIns="0" bIns="0" rtlCol="0" anchor="t"/>
          <a:lstStyle/>
          <a:p>
            <a:pPr indent="0" marL="0">
              <a:buNone/>
            </a:pPr>
            <a:r>
              <a:rPr lang="en-US" sz="3200" b="1" dirty="0">
                <a:solidFill>
                  <a:schemeClr val="accent1"/>
                </a:solidFill>
                <a:latin typeface="Century Gothic" pitchFamily="34" charset="0"/>
                <a:ea typeface="Century Gothic" pitchFamily="34" charset="-122"/>
                <a:cs typeface="Century Gothic" pitchFamily="34" charset="-120"/>
              </a:rPr>
              <a:t>You can, but be careful.</a:t>
            </a:r>
            <a:endParaRPr lang="en-US" sz="3200" dirty="0"/>
          </a:p>
        </p:txBody>
      </p:sp>
      <p:graphicFrame>
        <p:nvGraphicFramePr>
          <p:cNvPr id="8" name="Affordability sum"/>
          <p:cNvGraphicFramePr>
            <a:graphicFrameLocks noGrp="1"/>
          </p:cNvGraphicFramePr>
          <p:nvPr>
            <p:extLst>
              <p:ext uri="{D42A27DB-BD31-4B8C-83A1-F6EECF244321}">
                <p14:modId xmlns:p14="http://schemas.microsoft.com/office/powerpoint/2010/main" val="1579011935"/>
              </p:ext>
            </p:extLst>
          </p:nvPr>
        </p:nvGraphicFramePr>
        <p:xfrm>
          <a:off x="3114702" y="2651760"/>
          <a:ext cx="8391193" cy="914400"/>
        </p:xfrm>
        <a:graphic>
          <a:graphicData uri="http://schemas.openxmlformats.org/drawingml/2006/table">
            <a:tbl>
              <a:tblPr/>
              <a:tblGrid>
                <a:gridCol w="6379513"/>
                <a:gridCol w="2011680"/>
              </a:tblGrid>
              <a:tr h="0">
                <a:tc>
                  <a:txBody>
                    <a:bodyPr/>
                    <a:lstStyle/>
                    <a:p>
                      <a:pPr indent="0" marL="0">
                        <a:buNone/>
                      </a:pPr>
                      <a:r>
                        <a:rPr lang="en-US" sz="1800" dirty="0">
                          <a:solidFill>
                            <a:schemeClr val="accent3"/>
                          </a:solidFill>
                          <a:latin typeface="Calibri" pitchFamily="34" charset="0"/>
                          <a:ea typeface="Calibri" pitchFamily="34" charset="-122"/>
                          <a:cs typeface="Calibri" pitchFamily="34" charset="-120"/>
                        </a:rPr>
                        <a:t>Cash today</a:t>
                      </a:r>
                      <a:endParaRPr lang="en-US" sz="1800" dirty="0">
                        <a:latin typeface="Calibri" charset="0"/>
                        <a:ea typeface="Calibri" charset="0"/>
                        <a:cs typeface="Calibri" charset="0"/>
                      </a:endParaRPr>
                    </a:p>
                  </a:txBody>
                  <a:tcPr marL="0" marR="0" marT="91440" marB="91440">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₦580,000</a:t>
                      </a:r>
                      <a:endParaRPr lang="en-US" sz="1800" dirty="0">
                        <a:latin typeface="Calibri" charset="0"/>
                        <a:ea typeface="Calibri" charset="0"/>
                        <a:cs typeface="Calibri" charset="0"/>
                      </a:endParaRPr>
                    </a:p>
                  </a:txBody>
                  <a:tcPr marL="0" marR="0" marT="91440" marB="91440">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tcPr>
                </a:tc>
              </a:tr>
              <a:tr h="0">
                <a:tc>
                  <a:txBody>
                    <a:bodyPr/>
                    <a:lstStyle/>
                    <a:p>
                      <a:pPr indent="0" marL="0">
                        <a:buNone/>
                      </a:pPr>
                      <a:r>
                        <a:rPr lang="en-US" sz="1800" dirty="0">
                          <a:solidFill>
                            <a:schemeClr val="accent3"/>
                          </a:solidFill>
                          <a:latin typeface="Calibri" pitchFamily="34" charset="0"/>
                          <a:ea typeface="Calibri" pitchFamily="34" charset="-122"/>
                          <a:cs typeface="Calibri" pitchFamily="34" charset="-120"/>
                        </a:rPr>
                        <a:t>This purchase</a:t>
                      </a:r>
                      <a:endParaRPr lang="en-US" sz="1800" dirty="0">
                        <a:latin typeface="Calibri" charset="0"/>
                        <a:ea typeface="Calibri" charset="0"/>
                        <a:cs typeface="Calibri" charset="0"/>
                      </a:endParaRPr>
                    </a:p>
                  </a:txBody>
                  <a:tcPr marL="0" marR="0" marT="91440" marB="91440">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−₦300,000</a:t>
                      </a:r>
                      <a:endParaRPr lang="en-US" sz="1800" dirty="0">
                        <a:latin typeface="Calibri" charset="0"/>
                        <a:ea typeface="Calibri" charset="0"/>
                        <a:cs typeface="Calibri" charset="0"/>
                      </a:endParaRPr>
                    </a:p>
                  </a:txBody>
                  <a:tcPr marL="0" marR="0" marT="91440" marB="91440">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tcPr>
                </a:tc>
              </a:tr>
              <a:tr h="0">
                <a:tc>
                  <a:txBody>
                    <a:bodyPr/>
                    <a:lstStyle/>
                    <a:p>
                      <a:pPr indent="0" marL="0">
                        <a:buNone/>
                      </a:pPr>
                      <a:r>
                        <a:rPr lang="en-US" sz="1800" dirty="0">
                          <a:solidFill>
                            <a:schemeClr val="accent3"/>
                          </a:solidFill>
                          <a:latin typeface="Calibri" pitchFamily="34" charset="0"/>
                          <a:ea typeface="Calibri" pitchFamily="34" charset="-122"/>
                          <a:cs typeface="Calibri" pitchFamily="34" charset="-120"/>
                        </a:rPr>
                        <a:t>Expected expenses, next 2 weeks</a:t>
                      </a:r>
                      <a:endParaRPr lang="en-US" sz="1800" dirty="0">
                        <a:latin typeface="Calibri" charset="0"/>
                        <a:ea typeface="Calibri" charset="0"/>
                        <a:cs typeface="Calibri" charset="0"/>
                      </a:endParaRPr>
                    </a:p>
                  </a:txBody>
                  <a:tcPr marL="0" marR="0" marT="91440" marB="91440">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tcPr>
                </a:tc>
                <a:tc>
                  <a:txBody>
                    <a:bodyPr/>
                    <a:lstStyle/>
                    <a:p>
                      <a:pPr algn="r" indent="0" marL="0">
                        <a:buNone/>
                      </a:pPr>
                      <a:r>
                        <a:rPr lang="en-US" sz="1800" dirty="0">
                          <a:solidFill>
                            <a:schemeClr val="tx1"/>
                          </a:solidFill>
                          <a:latin typeface="Calibri" pitchFamily="34" charset="0"/>
                          <a:ea typeface="Calibri" pitchFamily="34" charset="-122"/>
                          <a:cs typeface="Calibri" pitchFamily="34" charset="-120"/>
                        </a:rPr>
                        <a:t>−₦186,962</a:t>
                      </a:r>
                      <a:endParaRPr lang="en-US" sz="1800" dirty="0">
                        <a:latin typeface="Calibri" charset="0"/>
                        <a:ea typeface="Calibri" charset="0"/>
                        <a:cs typeface="Calibri" charset="0"/>
                      </a:endParaRPr>
                    </a:p>
                  </a:txBody>
                  <a:tcPr marL="0" marR="0" marT="91440" marB="91440">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tcPr>
                </a:tc>
              </a:tr>
              <a:tr h="0">
                <a:tc>
                  <a:txBody>
                    <a:bodyPr/>
                    <a:lstStyle/>
                    <a:p>
                      <a:pPr indent="0" marL="0">
                        <a:buNone/>
                      </a:pPr>
                      <a:r>
                        <a:rPr lang="en-US" sz="1800" b="1" dirty="0">
                          <a:solidFill>
                            <a:schemeClr val="tx1"/>
                          </a:solidFill>
                          <a:latin typeface="Calibri" pitchFamily="34" charset="0"/>
                          <a:ea typeface="Calibri" pitchFamily="34" charset="-122"/>
                          <a:cs typeface="Calibri" pitchFamily="34" charset="-120"/>
                        </a:rPr>
                        <a:t>Left over</a:t>
                      </a:r>
                      <a:endParaRPr lang="en-US" sz="1800" dirty="0">
                        <a:latin typeface="Calibri" charset="0"/>
                        <a:ea typeface="Calibri" charset="0"/>
                        <a:cs typeface="Calibri" charset="0"/>
                      </a:endParaRPr>
                    </a:p>
                  </a:txBody>
                  <a:tcPr marL="0" marR="0" marT="91440" marB="91440">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tcPr>
                </a:tc>
                <a:tc>
                  <a:txBody>
                    <a:bodyPr/>
                    <a:lstStyle/>
                    <a:p>
                      <a:pPr algn="r" indent="0" marL="0">
                        <a:buNone/>
                      </a:pPr>
                      <a:r>
                        <a:rPr lang="en-US" sz="1800" b="1" dirty="0">
                          <a:solidFill>
                            <a:schemeClr val="tx1"/>
                          </a:solidFill>
                          <a:latin typeface="Calibri" pitchFamily="34" charset="0"/>
                          <a:ea typeface="Calibri" pitchFamily="34" charset="-122"/>
                          <a:cs typeface="Calibri" pitchFamily="34" charset="-120"/>
                        </a:rPr>
                        <a:t>₦93,038</a:t>
                      </a:r>
                      <a:endParaRPr lang="en-US" sz="1800" dirty="0">
                        <a:latin typeface="Calibri" charset="0"/>
                        <a:ea typeface="Calibri" charset="0"/>
                        <a:cs typeface="Calibri" charset="0"/>
                      </a:endParaRPr>
                    </a:p>
                  </a:txBody>
                  <a:tcPr marL="0" marR="0" marT="91440" marB="91440">
                    <a:lnL w="0" cap="flat" cmpd="sng" algn="ctr">
                      <a:noFill/>
                    </a:lnL>
                    <a:lnR w="0" cap="flat" cmpd="sng" algn="ctr">
                      <a:noFill/>
                    </a:lnR>
                    <a:lnT w="0" cap="flat" cmpd="sng" algn="ctr">
                      <a:noFill/>
                    </a:lnT>
                    <a:lnB w="12700" cap="flat" cmpd="sng" algn="ctr">
                      <a:solidFill>
                        <a:srgbClr val="E7DCE5"/>
                      </a:solidFill>
                      <a:prstDash val="solid"/>
                      <a:round/>
                      <a:headEnd type="none" w="med" len="med"/>
                      <a:tailEnd type="none" w="med" len="med"/>
                    </a:lnB>
                  </a:tcPr>
                </a:tc>
              </a:tr>
            </a:tbl>
          </a:graphicData>
        </a:graphic>
      </p:graphicFrame>
      <p:sp>
        <p:nvSpPr>
          <p:cNvPr id="7" name="Safer amount box"/>
          <p:cNvSpPr/>
          <p:nvPr/>
        </p:nvSpPr>
        <p:spPr>
          <a:xfrm>
            <a:off x="3114702" y="4526280"/>
            <a:ext cx="8391193" cy="548640"/>
          </a:xfrm>
          <a:prstGeom prst="roundRect">
            <a:avLst>
              <a:gd name="adj" fmla="val 20000"/>
            </a:avLst>
          </a:prstGeom>
          <a:solidFill>
            <a:srgbClr val="F4E3F1"/>
          </a:solidFill>
          <a:ln/>
        </p:spPr>
      </p:sp>
      <p:sp>
        <p:nvSpPr>
          <p:cNvPr id="8" name="Safer amount"/>
          <p:cNvSpPr txBox="1"/>
          <p:nvPr/>
        </p:nvSpPr>
        <p:spPr>
          <a:xfrm>
            <a:off x="3389022" y="4526280"/>
            <a:ext cx="7842553" cy="548640"/>
          </a:xfrm>
          <a:prstGeom prst="rect">
            <a:avLst/>
          </a:prstGeom>
          <a:noFill/>
          <a:ln/>
        </p:spPr>
        <p:txBody>
          <a:bodyPr wrap="square" lIns="0" tIns="0" rIns="0" bIns="0" rtlCol="0" anchor="ctr"/>
          <a:lstStyle/>
          <a:p>
            <a:pPr indent="0" marL="0">
              <a:buNone/>
            </a:pPr>
            <a:r>
              <a:rPr lang="en-US" sz="1800" dirty="0">
                <a:solidFill>
                  <a:schemeClr val="tx1"/>
                </a:solidFill>
              </a:rPr>
              <a:t>Safer amount right now: </a:t>
            </a:r>
            <a:pPr indent="0" marL="0">
              <a:buNone/>
            </a:pPr>
            <a:r>
              <a:rPr lang="en-US" sz="1800" b="1" dirty="0">
                <a:solidFill>
                  <a:schemeClr val="tx1"/>
                </a:solidFill>
              </a:rPr>
              <a:t>₦180,000 – ₦210,000</a:t>
            </a:r>
            <a:endParaRPr lang="en-US" sz="1800" dirty="0"/>
          </a:p>
        </p:txBody>
      </p:sp>
      <p:sp>
        <p:nvSpPr>
          <p:cNvPr id="9" name="Reserve note"/>
          <p:cNvSpPr txBox="1"/>
          <p:nvPr/>
        </p:nvSpPr>
        <p:spPr>
          <a:xfrm>
            <a:off x="3114702" y="5257800"/>
            <a:ext cx="8391193" cy="548640"/>
          </a:xfrm>
          <a:prstGeom prst="rect">
            <a:avLst/>
          </a:prstGeom>
          <a:noFill/>
          <a:ln/>
        </p:spPr>
        <p:txBody>
          <a:bodyPr wrap="square" lIns="0" tIns="0" rIns="0" bIns="0" rtlCol="0" anchor="t"/>
          <a:lstStyle/>
          <a:p>
            <a:pPr indent="0" marL="0">
              <a:buNone/>
            </a:pPr>
            <a:r>
              <a:rPr lang="en-US" sz="1400" dirty="0">
                <a:solidFill>
                  <a:schemeClr val="accent3"/>
                </a:solidFill>
              </a:rPr>
              <a:t>₦93K is below her ₦180K reserve (10 days of running costs). At ₦210K: "Yes, you can afford this comfortably."</a:t>
            </a:r>
            <a:endParaRPr lang="en-US" sz="14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lIns="0" tIns="0" rIns="0" bIns="0" rtlCol="0"/>
          <a:lstStyle/>
          <a:p>
            <a:pPr indent="0" marL="0">
              <a:buNone/>
            </a:pPr>
            <a:r>
              <a:rPr lang="en-US" sz="1400" b="1" spc="200" kern="0" dirty="0">
                <a:solidFill>
                  <a:schemeClr val="accent1"/>
                </a:solidFill>
              </a:rPr>
              <a:t>WORKING TODAY</a:t>
            </a: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lIns="0" tIns="0" rIns="0" bIns="0" rtlCol="0" anchor="t"/>
          <a:lstStyle/>
          <a:p>
            <a:pPr algn="l" indent="0" marL="0">
              <a:buNone/>
            </a:pPr>
            <a:r>
              <a:rPr lang="en-US" sz="3400" b="1" dirty="0">
                <a:solidFill>
                  <a:schemeClr val="tx1"/>
                </a:solidFill>
                <a:latin typeface="Century Gothic" pitchFamily="34" charset="0"/>
                <a:ea typeface="Century Gothic" pitchFamily="34" charset="-122"/>
                <a:cs typeface="Century Gothic" pitchFamily="34" charset="-120"/>
              </a:rPr>
              <a:t>What the prototype already does</a:t>
            </a:r>
            <a:endParaRPr lang="en-US" sz="3400" dirty="0"/>
          </a:p>
        </p:txBody>
      </p:sp>
      <p:sp>
        <p:nvSpPr>
          <p:cNvPr id="4" name="Stat 1 card"/>
          <p:cNvSpPr/>
          <p:nvPr/>
        </p:nvSpPr>
        <p:spPr>
          <a:xfrm>
            <a:off x="685800" y="1965960"/>
            <a:ext cx="2533574" cy="2103120"/>
          </a:xfrm>
          <a:prstGeom prst="roundRect">
            <a:avLst>
              <a:gd name="adj" fmla="val 6957"/>
            </a:avLst>
          </a:prstGeom>
          <a:solidFill>
            <a:srgbClr val="FFFFFF"/>
          </a:solidFill>
          <a:ln w="12700">
            <a:solidFill>
              <a:srgbClr val="E7DCE5"/>
            </a:solidFill>
            <a:prstDash val="solid"/>
          </a:ln>
        </p:spPr>
      </p:sp>
      <p:sp>
        <p:nvSpPr>
          <p:cNvPr id="5" name="Stat 1 figure"/>
          <p:cNvSpPr txBox="1"/>
          <p:nvPr/>
        </p:nvSpPr>
        <p:spPr>
          <a:xfrm>
            <a:off x="960120" y="2240280"/>
            <a:ext cx="1984934" cy="685800"/>
          </a:xfrm>
          <a:prstGeom prst="rect">
            <a:avLst/>
          </a:prstGeom>
          <a:noFill/>
          <a:ln/>
        </p:spPr>
        <p:txBody>
          <a:bodyPr wrap="square" lIns="0" tIns="0" rIns="0" bIns="0" rtlCol="0" anchor="t"/>
          <a:lstStyle/>
          <a:p>
            <a:pPr indent="0" marL="0">
              <a:buNone/>
            </a:pPr>
            <a:r>
              <a:rPr lang="en-US" sz="4000" b="1" dirty="0">
                <a:solidFill>
                  <a:schemeClr val="accent1"/>
                </a:solidFill>
                <a:latin typeface="Century Gothic" pitchFamily="34" charset="0"/>
                <a:ea typeface="Century Gothic" pitchFamily="34" charset="-122"/>
                <a:cs typeface="Century Gothic" pitchFamily="34" charset="-120"/>
              </a:rPr>
              <a:t>247</a:t>
            </a:r>
            <a:endParaRPr lang="en-US" sz="4000" dirty="0"/>
          </a:p>
        </p:txBody>
      </p:sp>
      <p:sp>
        <p:nvSpPr>
          <p:cNvPr id="6" name="Stat 1 label"/>
          <p:cNvSpPr txBox="1"/>
          <p:nvPr/>
        </p:nvSpPr>
        <p:spPr>
          <a:xfrm>
            <a:off x="960120" y="3017520"/>
            <a:ext cx="1984934" cy="914400"/>
          </a:xfrm>
          <a:prstGeom prst="rect">
            <a:avLst/>
          </a:prstGeom>
          <a:noFill/>
          <a:ln/>
        </p:spPr>
        <p:txBody>
          <a:bodyPr wrap="square" lIns="0" tIns="0" rIns="0" bIns="0" rtlCol="0" anchor="t"/>
          <a:lstStyle/>
          <a:p>
            <a:pPr indent="0" marL="0">
              <a:buNone/>
            </a:pPr>
            <a:r>
              <a:rPr lang="en-US" sz="1600" dirty="0">
                <a:solidFill>
                  <a:schemeClr val="tx1"/>
                </a:solidFill>
              </a:rPr>
              <a:t>transactions understood in seconds</a:t>
            </a:r>
            <a:endParaRPr lang="en-US" sz="1600" dirty="0"/>
          </a:p>
        </p:txBody>
      </p:sp>
      <p:sp>
        <p:nvSpPr>
          <p:cNvPr id="7" name="Stat 2 card"/>
          <p:cNvSpPr/>
          <p:nvPr/>
        </p:nvSpPr>
        <p:spPr>
          <a:xfrm>
            <a:off x="3447974" y="1965960"/>
            <a:ext cx="2533574" cy="2103120"/>
          </a:xfrm>
          <a:prstGeom prst="roundRect">
            <a:avLst>
              <a:gd name="adj" fmla="val 6957"/>
            </a:avLst>
          </a:prstGeom>
          <a:solidFill>
            <a:srgbClr val="FFFFFF"/>
          </a:solidFill>
          <a:ln w="12700">
            <a:solidFill>
              <a:srgbClr val="E7DCE5"/>
            </a:solidFill>
            <a:prstDash val="solid"/>
          </a:ln>
        </p:spPr>
      </p:sp>
      <p:sp>
        <p:nvSpPr>
          <p:cNvPr id="8" name="Stat 2 figure"/>
          <p:cNvSpPr txBox="1"/>
          <p:nvPr/>
        </p:nvSpPr>
        <p:spPr>
          <a:xfrm>
            <a:off x="3722294" y="2240280"/>
            <a:ext cx="1984934" cy="685800"/>
          </a:xfrm>
          <a:prstGeom prst="rect">
            <a:avLst/>
          </a:prstGeom>
          <a:noFill/>
          <a:ln/>
        </p:spPr>
        <p:txBody>
          <a:bodyPr wrap="square" lIns="0" tIns="0" rIns="0" bIns="0" rtlCol="0" anchor="t"/>
          <a:lstStyle/>
          <a:p>
            <a:pPr indent="0" marL="0">
              <a:buNone/>
            </a:pPr>
            <a:r>
              <a:rPr lang="en-US" sz="4000" b="1" dirty="0">
                <a:solidFill>
                  <a:schemeClr val="accent1"/>
                </a:solidFill>
                <a:latin typeface="Century Gothic" pitchFamily="34" charset="0"/>
                <a:ea typeface="Century Gothic" pitchFamily="34" charset="-122"/>
                <a:cs typeface="Century Gothic" pitchFamily="34" charset="-120"/>
              </a:rPr>
              <a:t>97.6%</a:t>
            </a:r>
            <a:endParaRPr lang="en-US" sz="4000" dirty="0"/>
          </a:p>
        </p:txBody>
      </p:sp>
      <p:sp>
        <p:nvSpPr>
          <p:cNvPr id="9" name="Stat 2 label"/>
          <p:cNvSpPr txBox="1"/>
          <p:nvPr/>
        </p:nvSpPr>
        <p:spPr>
          <a:xfrm>
            <a:off x="3722294" y="3017520"/>
            <a:ext cx="1984934" cy="914400"/>
          </a:xfrm>
          <a:prstGeom prst="rect">
            <a:avLst/>
          </a:prstGeom>
          <a:noFill/>
          <a:ln/>
        </p:spPr>
        <p:txBody>
          <a:bodyPr wrap="square" lIns="0" tIns="0" rIns="0" bIns="0" rtlCol="0" anchor="t"/>
          <a:lstStyle/>
          <a:p>
            <a:pPr indent="0" marL="0">
              <a:buNone/>
            </a:pPr>
            <a:r>
              <a:rPr lang="en-US" sz="1600" dirty="0">
                <a:solidFill>
                  <a:schemeClr val="tx1"/>
                </a:solidFill>
              </a:rPr>
              <a:t>categorized correctly, with no confident mistakes</a:t>
            </a:r>
            <a:endParaRPr lang="en-US" sz="1600" dirty="0"/>
          </a:p>
        </p:txBody>
      </p:sp>
      <p:sp>
        <p:nvSpPr>
          <p:cNvPr id="10" name="Stat 3 card"/>
          <p:cNvSpPr/>
          <p:nvPr/>
        </p:nvSpPr>
        <p:spPr>
          <a:xfrm>
            <a:off x="6210148" y="1965960"/>
            <a:ext cx="2533574" cy="2103120"/>
          </a:xfrm>
          <a:prstGeom prst="roundRect">
            <a:avLst>
              <a:gd name="adj" fmla="val 6957"/>
            </a:avLst>
          </a:prstGeom>
          <a:solidFill>
            <a:srgbClr val="FFFFFF"/>
          </a:solidFill>
          <a:ln w="12700">
            <a:solidFill>
              <a:srgbClr val="E7DCE5"/>
            </a:solidFill>
            <a:prstDash val="solid"/>
          </a:ln>
        </p:spPr>
      </p:sp>
      <p:sp>
        <p:nvSpPr>
          <p:cNvPr id="11" name="Stat 3 figure"/>
          <p:cNvSpPr txBox="1"/>
          <p:nvPr/>
        </p:nvSpPr>
        <p:spPr>
          <a:xfrm>
            <a:off x="6484468" y="2240280"/>
            <a:ext cx="1984934" cy="685800"/>
          </a:xfrm>
          <a:prstGeom prst="rect">
            <a:avLst/>
          </a:prstGeom>
          <a:noFill/>
          <a:ln/>
        </p:spPr>
        <p:txBody>
          <a:bodyPr wrap="square" lIns="0" tIns="0" rIns="0" bIns="0" rtlCol="0" anchor="t"/>
          <a:lstStyle/>
          <a:p>
            <a:pPr indent="0" marL="0">
              <a:buNone/>
            </a:pPr>
            <a:r>
              <a:rPr lang="en-US" sz="4000" b="1" dirty="0">
                <a:solidFill>
                  <a:schemeClr val="accent1"/>
                </a:solidFill>
                <a:latin typeface="Century Gothic" pitchFamily="34" charset="0"/>
                <a:ea typeface="Century Gothic" pitchFamily="34" charset="-122"/>
                <a:cs typeface="Century Gothic" pitchFamily="34" charset="-120"/>
              </a:rPr>
              <a:t>14 days</a:t>
            </a:r>
            <a:endParaRPr lang="en-US" sz="4000" dirty="0"/>
          </a:p>
        </p:txBody>
      </p:sp>
      <p:sp>
        <p:nvSpPr>
          <p:cNvPr id="12" name="Stat 3 label"/>
          <p:cNvSpPr txBox="1"/>
          <p:nvPr/>
        </p:nvSpPr>
        <p:spPr>
          <a:xfrm>
            <a:off x="6484468" y="3017520"/>
            <a:ext cx="1984934" cy="914400"/>
          </a:xfrm>
          <a:prstGeom prst="rect">
            <a:avLst/>
          </a:prstGeom>
          <a:noFill/>
          <a:ln/>
        </p:spPr>
        <p:txBody>
          <a:bodyPr wrap="square" lIns="0" tIns="0" rIns="0" bIns="0" rtlCol="0" anchor="t"/>
          <a:lstStyle/>
          <a:p>
            <a:pPr indent="0" marL="0">
              <a:buNone/>
            </a:pPr>
            <a:r>
              <a:rPr lang="en-US" sz="1600" dirty="0">
                <a:solidFill>
                  <a:schemeClr val="tx1"/>
                </a:solidFill>
              </a:rPr>
              <a:t>of cash pressure seen ahead</a:t>
            </a:r>
            <a:endParaRPr lang="en-US" sz="1600" dirty="0"/>
          </a:p>
        </p:txBody>
      </p:sp>
      <p:sp>
        <p:nvSpPr>
          <p:cNvPr id="13" name="Stat 4 card"/>
          <p:cNvSpPr/>
          <p:nvPr/>
        </p:nvSpPr>
        <p:spPr>
          <a:xfrm>
            <a:off x="8972321" y="1965960"/>
            <a:ext cx="2533574" cy="2103120"/>
          </a:xfrm>
          <a:prstGeom prst="roundRect">
            <a:avLst>
              <a:gd name="adj" fmla="val 6957"/>
            </a:avLst>
          </a:prstGeom>
          <a:solidFill>
            <a:srgbClr val="FFFFFF"/>
          </a:solidFill>
          <a:ln w="12700">
            <a:solidFill>
              <a:srgbClr val="E7DCE5"/>
            </a:solidFill>
            <a:prstDash val="solid"/>
          </a:ln>
        </p:spPr>
      </p:sp>
      <p:sp>
        <p:nvSpPr>
          <p:cNvPr id="14" name="Stat 4 figure"/>
          <p:cNvSpPr txBox="1"/>
          <p:nvPr/>
        </p:nvSpPr>
        <p:spPr>
          <a:xfrm>
            <a:off x="9246641" y="2240280"/>
            <a:ext cx="1984934" cy="685800"/>
          </a:xfrm>
          <a:prstGeom prst="rect">
            <a:avLst/>
          </a:prstGeom>
          <a:noFill/>
          <a:ln/>
        </p:spPr>
        <p:txBody>
          <a:bodyPr wrap="square" lIns="0" tIns="0" rIns="0" bIns="0" rtlCol="0" anchor="t"/>
          <a:lstStyle/>
          <a:p>
            <a:pPr indent="0" marL="0">
              <a:buNone/>
            </a:pPr>
            <a:r>
              <a:rPr lang="en-US" sz="4000" b="1" dirty="0">
                <a:solidFill>
                  <a:schemeClr val="accent1"/>
                </a:solidFill>
                <a:latin typeface="Century Gothic" pitchFamily="34" charset="0"/>
                <a:ea typeface="Century Gothic" pitchFamily="34" charset="-122"/>
                <a:cs typeface="Century Gothic" pitchFamily="34" charset="-120"/>
              </a:rPr>
              <a:t>100%</a:t>
            </a:r>
            <a:endParaRPr lang="en-US" sz="4000" dirty="0"/>
          </a:p>
        </p:txBody>
      </p:sp>
      <p:sp>
        <p:nvSpPr>
          <p:cNvPr id="15" name="Stat 4 label"/>
          <p:cNvSpPr txBox="1"/>
          <p:nvPr/>
        </p:nvSpPr>
        <p:spPr>
          <a:xfrm>
            <a:off x="9246641" y="3017520"/>
            <a:ext cx="1984934" cy="914400"/>
          </a:xfrm>
          <a:prstGeom prst="rect">
            <a:avLst/>
          </a:prstGeom>
          <a:noFill/>
          <a:ln/>
        </p:spPr>
        <p:txBody>
          <a:bodyPr wrap="square" lIns="0" tIns="0" rIns="0" bIns="0" rtlCol="0" anchor="t"/>
          <a:lstStyle/>
          <a:p>
            <a:pPr indent="0" marL="0">
              <a:buNone/>
            </a:pPr>
            <a:r>
              <a:rPr lang="en-US" sz="1600" dirty="0">
                <a:solidFill>
                  <a:schemeClr val="tx1"/>
                </a:solidFill>
              </a:rPr>
              <a:t>of numbers in explanations checked against the engine</a:t>
            </a:r>
            <a:endParaRPr lang="en-US" sz="1600" dirty="0"/>
          </a:p>
        </p:txBody>
      </p:sp>
      <p:sp>
        <p:nvSpPr>
          <p:cNvPr id="16" name="Also built"/>
          <p:cNvSpPr txBox="1"/>
          <p:nvPr/>
        </p:nvSpPr>
        <p:spPr>
          <a:xfrm>
            <a:off x="685800" y="4434840"/>
            <a:ext cx="10820095" cy="457200"/>
          </a:xfrm>
          <a:prstGeom prst="rect">
            <a:avLst/>
          </a:prstGeom>
          <a:noFill/>
          <a:ln/>
        </p:spPr>
        <p:txBody>
          <a:bodyPr wrap="square" lIns="0" tIns="0" rIns="0" bIns="0" rtlCol="0" anchor="t"/>
          <a:lstStyle/>
          <a:p>
            <a:pPr indent="0" marL="0">
              <a:buNone/>
            </a:pPr>
            <a:r>
              <a:rPr lang="en-US" sz="1700" dirty="0">
                <a:solidFill>
                  <a:schemeClr val="accent3"/>
                </a:solidFill>
              </a:rPr>
              <a:t>Also built in: works fully offline · designed for phones first · accessibility-checked (WCAG 2.1 AA) · 94 automated tests</a:t>
            </a:r>
            <a:endParaRPr lang="en-US" sz="1700" dirty="0"/>
          </a:p>
        </p:txBody>
      </p:sp>
      <p:sp>
        <p:nvSpPr>
          <p:cNvPr id="17" name="Source"/>
          <p:cNvSpPr txBox="1"/>
          <p:nvPr/>
        </p:nvSpPr>
        <p:spPr>
          <a:xfrm>
            <a:off x="685800" y="5806440"/>
            <a:ext cx="7315200" cy="365760"/>
          </a:xfrm>
          <a:prstGeom prst="rect">
            <a:avLst/>
          </a:prstGeom>
          <a:noFill/>
          <a:ln/>
        </p:spPr>
        <p:txBody>
          <a:bodyPr wrap="square" lIns="0" tIns="0" rIns="0" bIns="0" rtlCol="0" anchor="t"/>
          <a:lstStyle/>
          <a:p>
            <a:pPr indent="0" marL="0">
              <a:buNone/>
            </a:pPr>
            <a:r>
              <a:rPr lang="en-US" sz="1200" dirty="0">
                <a:solidFill>
                  <a:srgbClr val="6E6370"/>
                </a:solidFill>
              </a:rPr>
              <a:t>Figures measured on the 6-month demo dataset.</a:t>
            </a:r>
            <a:endParaRPr lang="en-US" sz="12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lIns="0" tIns="0" rIns="0" bIns="0" rtlCol="0"/>
          <a:lstStyle/>
          <a:p>
            <a:pPr indent="0" marL="0">
              <a:buNone/>
            </a:pPr>
            <a:r>
              <a:rPr lang="en-US" sz="1400" b="1" spc="200" kern="0" dirty="0">
                <a:solidFill>
                  <a:schemeClr val="accent1"/>
                </a:solidFill>
              </a:rPr>
              <a:t>WHY IT MATTERS TO WEMA</a:t>
            </a: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lIns="0" tIns="0" rIns="0" bIns="0" rtlCol="0" anchor="t"/>
          <a:lstStyle/>
          <a:p>
            <a:pPr algn="l" indent="0" marL="0">
              <a:buNone/>
            </a:pPr>
            <a:r>
              <a:rPr lang="en-US" sz="3400" b="1" dirty="0">
                <a:solidFill>
                  <a:schemeClr val="tx1"/>
                </a:solidFill>
                <a:latin typeface="Century Gothic" pitchFamily="34" charset="0"/>
                <a:ea typeface="Century Gothic" pitchFamily="34" charset="-122"/>
                <a:cs typeface="Century Gothic" pitchFamily="34" charset="-120"/>
              </a:rPr>
              <a:t>Built on data Wema already has</a:t>
            </a:r>
            <a:endParaRPr lang="en-US" sz="3400" dirty="0"/>
          </a:p>
        </p:txBody>
      </p:sp>
      <p:sp>
        <p:nvSpPr>
          <p:cNvPr id="4" name="Benefit 1 card"/>
          <p:cNvSpPr/>
          <p:nvPr/>
        </p:nvSpPr>
        <p:spPr>
          <a:xfrm>
            <a:off x="685800" y="1965960"/>
            <a:ext cx="3703320" cy="1691640"/>
          </a:xfrm>
          <a:prstGeom prst="roundRect">
            <a:avLst>
              <a:gd name="adj" fmla="val 8649"/>
            </a:avLst>
          </a:prstGeom>
          <a:solidFill>
            <a:srgbClr val="FFFFFF"/>
          </a:solidFill>
          <a:ln w="12700">
            <a:solidFill>
              <a:srgbClr val="E7DCE5"/>
            </a:solidFill>
            <a:prstDash val="solid"/>
          </a:ln>
        </p:spPr>
      </p:sp>
      <p:sp>
        <p:nvSpPr>
          <p:cNvPr id="5" name="Benefit 1 title"/>
          <p:cNvSpPr txBox="1"/>
          <p:nvPr/>
        </p:nvSpPr>
        <p:spPr>
          <a:xfrm>
            <a:off x="960120" y="2194560"/>
            <a:ext cx="3154680" cy="685800"/>
          </a:xfrm>
          <a:prstGeom prst="rect">
            <a:avLst/>
          </a:prstGeom>
          <a:noFill/>
          <a:ln/>
        </p:spPr>
        <p:txBody>
          <a:bodyPr wrap="square" lIns="0" tIns="0" rIns="0" bIns="0" rtlCol="0" anchor="t"/>
          <a:lstStyle/>
          <a:p>
            <a:pPr indent="0" marL="0">
              <a:buNone/>
            </a:pPr>
            <a:r>
              <a:rPr lang="en-US" sz="1800" b="1" dirty="0">
                <a:solidFill>
                  <a:schemeClr val="tx1"/>
                </a:solidFill>
                <a:latin typeface="Century Gothic" pitchFamily="34" charset="0"/>
                <a:ea typeface="Century Gothic" pitchFamily="34" charset="-122"/>
                <a:cs typeface="Century Gothic" pitchFamily="34" charset="-120"/>
              </a:rPr>
              <a:t>A reason to open the app every week</a:t>
            </a:r>
            <a:endParaRPr lang="en-US" sz="1800" dirty="0"/>
          </a:p>
        </p:txBody>
      </p:sp>
      <p:sp>
        <p:nvSpPr>
          <p:cNvPr id="6" name="Benefit 1 detail"/>
          <p:cNvSpPr txBox="1"/>
          <p:nvPr/>
        </p:nvSpPr>
        <p:spPr>
          <a:xfrm>
            <a:off x="960120" y="2880360"/>
            <a:ext cx="3154680" cy="685800"/>
          </a:xfrm>
          <a:prstGeom prst="rect">
            <a:avLst/>
          </a:prstGeom>
          <a:noFill/>
          <a:ln/>
        </p:spPr>
        <p:txBody>
          <a:bodyPr wrap="square" lIns="0" tIns="0" rIns="0" bIns="0" rtlCol="0" anchor="t"/>
          <a:lstStyle/>
          <a:p>
            <a:pPr indent="0" marL="0">
              <a:buNone/>
            </a:pPr>
            <a:r>
              <a:rPr lang="en-US" sz="1400" dirty="0">
                <a:solidFill>
                  <a:schemeClr val="accent3"/>
                </a:solidFill>
              </a:rPr>
              <a:t>Owners come back for answers, not just balances.</a:t>
            </a:r>
            <a:endParaRPr lang="en-US" sz="1400" dirty="0"/>
          </a:p>
        </p:txBody>
      </p:sp>
      <p:sp>
        <p:nvSpPr>
          <p:cNvPr id="7" name="Benefit 2 card"/>
          <p:cNvSpPr/>
          <p:nvPr/>
        </p:nvSpPr>
        <p:spPr>
          <a:xfrm>
            <a:off x="4617720" y="1965960"/>
            <a:ext cx="3703320" cy="1691640"/>
          </a:xfrm>
          <a:prstGeom prst="roundRect">
            <a:avLst>
              <a:gd name="adj" fmla="val 8649"/>
            </a:avLst>
          </a:prstGeom>
          <a:solidFill>
            <a:srgbClr val="FFFFFF"/>
          </a:solidFill>
          <a:ln w="12700">
            <a:solidFill>
              <a:srgbClr val="E7DCE5"/>
            </a:solidFill>
            <a:prstDash val="solid"/>
          </a:ln>
        </p:spPr>
      </p:sp>
      <p:sp>
        <p:nvSpPr>
          <p:cNvPr id="8" name="Benefit 2 title"/>
          <p:cNvSpPr txBox="1"/>
          <p:nvPr/>
        </p:nvSpPr>
        <p:spPr>
          <a:xfrm>
            <a:off x="4892040" y="2194560"/>
            <a:ext cx="3154680" cy="685800"/>
          </a:xfrm>
          <a:prstGeom prst="rect">
            <a:avLst/>
          </a:prstGeom>
          <a:noFill/>
          <a:ln/>
        </p:spPr>
        <p:txBody>
          <a:bodyPr wrap="square" lIns="0" tIns="0" rIns="0" bIns="0" rtlCol="0" anchor="t"/>
          <a:lstStyle/>
          <a:p>
            <a:pPr indent="0" marL="0">
              <a:buNone/>
            </a:pPr>
            <a:r>
              <a:rPr lang="en-US" sz="1800" b="1" dirty="0">
                <a:solidFill>
                  <a:schemeClr val="tx1"/>
                </a:solidFill>
                <a:latin typeface="Century Gothic" pitchFamily="34" charset="0"/>
                <a:ea typeface="Century Gothic" pitchFamily="34" charset="-122"/>
                <a:cs typeface="Century Gothic" pitchFamily="34" charset="-120"/>
              </a:rPr>
              <a:t>Healthier SME customers</a:t>
            </a:r>
            <a:endParaRPr lang="en-US" sz="1800" dirty="0"/>
          </a:p>
        </p:txBody>
      </p:sp>
      <p:sp>
        <p:nvSpPr>
          <p:cNvPr id="9" name="Benefit 2 detail"/>
          <p:cNvSpPr txBox="1"/>
          <p:nvPr/>
        </p:nvSpPr>
        <p:spPr>
          <a:xfrm>
            <a:off x="4892040" y="2880360"/>
            <a:ext cx="3154680" cy="685800"/>
          </a:xfrm>
          <a:prstGeom prst="rect">
            <a:avLst/>
          </a:prstGeom>
          <a:noFill/>
          <a:ln/>
        </p:spPr>
        <p:txBody>
          <a:bodyPr wrap="square" lIns="0" tIns="0" rIns="0" bIns="0" rtlCol="0" anchor="t"/>
          <a:lstStyle/>
          <a:p>
            <a:pPr indent="0" marL="0">
              <a:buNone/>
            </a:pPr>
            <a:r>
              <a:rPr lang="en-US" sz="1400" dirty="0">
                <a:solidFill>
                  <a:schemeClr val="accent3"/>
                </a:solidFill>
              </a:rPr>
              <a:t>Owners who see cash pressure early can act before it becomes a crisis.</a:t>
            </a:r>
            <a:endParaRPr lang="en-US" sz="1400" dirty="0"/>
          </a:p>
        </p:txBody>
      </p:sp>
      <p:sp>
        <p:nvSpPr>
          <p:cNvPr id="10" name="Benefit 3 card"/>
          <p:cNvSpPr/>
          <p:nvPr/>
        </p:nvSpPr>
        <p:spPr>
          <a:xfrm>
            <a:off x="685800" y="3886200"/>
            <a:ext cx="3703320" cy="1691640"/>
          </a:xfrm>
          <a:prstGeom prst="roundRect">
            <a:avLst>
              <a:gd name="adj" fmla="val 8649"/>
            </a:avLst>
          </a:prstGeom>
          <a:solidFill>
            <a:srgbClr val="FFFFFF"/>
          </a:solidFill>
          <a:ln w="12700">
            <a:solidFill>
              <a:srgbClr val="E7DCE5"/>
            </a:solidFill>
            <a:prstDash val="solid"/>
          </a:ln>
        </p:spPr>
      </p:sp>
      <p:sp>
        <p:nvSpPr>
          <p:cNvPr id="11" name="Benefit 3 title"/>
          <p:cNvSpPr txBox="1"/>
          <p:nvPr/>
        </p:nvSpPr>
        <p:spPr>
          <a:xfrm>
            <a:off x="960120" y="4114800"/>
            <a:ext cx="3154680" cy="685800"/>
          </a:xfrm>
          <a:prstGeom prst="rect">
            <a:avLst/>
          </a:prstGeom>
          <a:noFill/>
          <a:ln/>
        </p:spPr>
        <p:txBody>
          <a:bodyPr wrap="square" lIns="0" tIns="0" rIns="0" bIns="0" rtlCol="0" anchor="t"/>
          <a:lstStyle/>
          <a:p>
            <a:pPr indent="0" marL="0">
              <a:buNone/>
            </a:pPr>
            <a:r>
              <a:rPr lang="en-US" sz="1800" b="1" dirty="0">
                <a:solidFill>
                  <a:schemeClr val="tx1"/>
                </a:solidFill>
                <a:latin typeface="Century Gothic" pitchFamily="34" charset="0"/>
                <a:ea typeface="Century Gothic" pitchFamily="34" charset="-122"/>
                <a:cs typeface="Century Gothic" pitchFamily="34" charset="-120"/>
              </a:rPr>
              <a:t>A clearer view of SME activity</a:t>
            </a:r>
            <a:endParaRPr lang="en-US" sz="1800" dirty="0"/>
          </a:p>
        </p:txBody>
      </p:sp>
      <p:sp>
        <p:nvSpPr>
          <p:cNvPr id="12" name="Benefit 3 detail"/>
          <p:cNvSpPr txBox="1"/>
          <p:nvPr/>
        </p:nvSpPr>
        <p:spPr>
          <a:xfrm>
            <a:off x="960120" y="4800600"/>
            <a:ext cx="3154680" cy="685800"/>
          </a:xfrm>
          <a:prstGeom prst="rect">
            <a:avLst/>
          </a:prstGeom>
          <a:noFill/>
          <a:ln/>
        </p:spPr>
        <p:txBody>
          <a:bodyPr wrap="square" lIns="0" tIns="0" rIns="0" bIns="0" rtlCol="0" anchor="t"/>
          <a:lstStyle/>
          <a:p>
            <a:pPr indent="0" marL="0">
              <a:buNone/>
            </a:pPr>
            <a:r>
              <a:rPr lang="en-US" sz="1400" dirty="0">
                <a:solidFill>
                  <a:schemeClr val="accent3"/>
                </a:solidFill>
              </a:rPr>
              <a:t>With consent, insight into how small businesses are really doing.</a:t>
            </a:r>
            <a:endParaRPr lang="en-US" sz="1400" dirty="0"/>
          </a:p>
        </p:txBody>
      </p:sp>
      <p:sp>
        <p:nvSpPr>
          <p:cNvPr id="13" name="Benefit 4 card"/>
          <p:cNvSpPr/>
          <p:nvPr/>
        </p:nvSpPr>
        <p:spPr>
          <a:xfrm>
            <a:off x="4617720" y="3886200"/>
            <a:ext cx="3703320" cy="1691640"/>
          </a:xfrm>
          <a:prstGeom prst="roundRect">
            <a:avLst>
              <a:gd name="adj" fmla="val 8649"/>
            </a:avLst>
          </a:prstGeom>
          <a:solidFill>
            <a:srgbClr val="FFFFFF"/>
          </a:solidFill>
          <a:ln w="12700">
            <a:solidFill>
              <a:srgbClr val="E7DCE5"/>
            </a:solidFill>
            <a:prstDash val="solid"/>
          </a:ln>
        </p:spPr>
      </p:sp>
      <p:sp>
        <p:nvSpPr>
          <p:cNvPr id="14" name="Benefit 4 title"/>
          <p:cNvSpPr txBox="1"/>
          <p:nvPr/>
        </p:nvSpPr>
        <p:spPr>
          <a:xfrm>
            <a:off x="4892040" y="4114800"/>
            <a:ext cx="3154680" cy="685800"/>
          </a:xfrm>
          <a:prstGeom prst="rect">
            <a:avLst/>
          </a:prstGeom>
          <a:noFill/>
          <a:ln/>
        </p:spPr>
        <p:txBody>
          <a:bodyPr wrap="square" lIns="0" tIns="0" rIns="0" bIns="0" rtlCol="0" anchor="t"/>
          <a:lstStyle/>
          <a:p>
            <a:pPr indent="0" marL="0">
              <a:buNone/>
            </a:pPr>
            <a:r>
              <a:rPr lang="en-US" sz="1800" b="1" dirty="0">
                <a:solidFill>
                  <a:schemeClr val="tx1"/>
                </a:solidFill>
                <a:latin typeface="Century Gothic" pitchFamily="34" charset="0"/>
                <a:ea typeface="Century Gothic" pitchFamily="34" charset="-122"/>
                <a:cs typeface="Century Gothic" pitchFamily="34" charset="-120"/>
              </a:rPr>
              <a:t>A responsible path to products</a:t>
            </a:r>
            <a:endParaRPr lang="en-US" sz="1800" dirty="0"/>
          </a:p>
        </p:txBody>
      </p:sp>
      <p:sp>
        <p:nvSpPr>
          <p:cNvPr id="15" name="Benefit 4 detail"/>
          <p:cNvSpPr txBox="1"/>
          <p:nvPr/>
        </p:nvSpPr>
        <p:spPr>
          <a:xfrm>
            <a:off x="4892040" y="4800600"/>
            <a:ext cx="3154680" cy="685800"/>
          </a:xfrm>
          <a:prstGeom prst="rect">
            <a:avLst/>
          </a:prstGeom>
          <a:noFill/>
          <a:ln/>
        </p:spPr>
        <p:txBody>
          <a:bodyPr wrap="square" lIns="0" tIns="0" rIns="0" bIns="0" rtlCol="0" anchor="t"/>
          <a:lstStyle/>
          <a:p>
            <a:pPr indent="0" marL="0">
              <a:buNone/>
            </a:pPr>
            <a:r>
              <a:rPr lang="en-US" sz="1400" dirty="0">
                <a:solidFill>
                  <a:schemeClr val="accent3"/>
                </a:solidFill>
              </a:rPr>
              <a:t>Readiness signals show who is ready for more. Never an automatic loan decision.</a:t>
            </a:r>
            <a:endParaRPr lang="en-US" sz="1400" dirty="0"/>
          </a:p>
        </p:txBody>
      </p:sp>
      <p:sp>
        <p:nvSpPr>
          <p:cNvPr id="16" name="Wema card"/>
          <p:cNvSpPr/>
          <p:nvPr/>
        </p:nvSpPr>
        <p:spPr>
          <a:xfrm>
            <a:off x="8641080" y="1965960"/>
            <a:ext cx="2864815" cy="3611880"/>
          </a:xfrm>
          <a:prstGeom prst="roundRect">
            <a:avLst>
              <a:gd name="adj" fmla="val 5107"/>
            </a:avLst>
          </a:prstGeom>
          <a:solidFill>
            <a:srgbClr val="FFFFFF"/>
          </a:solidFill>
          <a:ln w="12700">
            <a:solidFill>
              <a:srgbClr val="E7DCE5"/>
            </a:solidFill>
            <a:prstDash val="solid"/>
          </a:ln>
        </p:spPr>
      </p:sp>
      <p:pic>
        <p:nvPicPr>
          <p:cNvPr id="17" name="Wema logo" descr="Wema Bank logo">    </p:cNvPr>
          <p:cNvPicPr>
            <a:picLocks noChangeAspect="1"/>
          </p:cNvPicPr>
          <p:nvPr/>
        </p:nvPicPr>
        <p:blipFill>
          <a:blip r:embed="rId1"/>
          <a:stretch>
            <a:fillRect/>
          </a:stretch>
        </p:blipFill>
        <p:spPr>
          <a:xfrm>
            <a:off x="8961120" y="2331720"/>
            <a:ext cx="1737360" cy="1012054"/>
          </a:xfrm>
          <a:prstGeom prst="rect">
            <a:avLst/>
          </a:prstGeom>
        </p:spPr>
      </p:pic>
      <p:sp>
        <p:nvSpPr>
          <p:cNvPr id="18" name="Prototype note"/>
          <p:cNvSpPr txBox="1"/>
          <p:nvPr/>
        </p:nvSpPr>
        <p:spPr>
          <a:xfrm>
            <a:off x="8961120" y="3611880"/>
            <a:ext cx="2224735" cy="1645920"/>
          </a:xfrm>
          <a:prstGeom prst="rect">
            <a:avLst/>
          </a:prstGeom>
          <a:noFill/>
          <a:ln/>
        </p:spPr>
        <p:txBody>
          <a:bodyPr wrap="square" lIns="0" tIns="0" rIns="0" bIns="0" rtlCol="0" anchor="t"/>
          <a:lstStyle/>
          <a:p>
            <a:pPr indent="0" marL="0">
              <a:buNone/>
            </a:pPr>
            <a:r>
              <a:rPr lang="en-US" sz="1400" dirty="0">
                <a:solidFill>
                  <a:schemeClr val="accent3"/>
                </a:solidFill>
              </a:rPr>
              <a:t>Prototype: the Wema connection is simulated. In production, Aisha connects once, with consent, and her data stays up to date.</a:t>
            </a:r>
            <a:endParaRPr lang="en-US" sz="14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65760"/>
          </a:xfrm>
          <a:prstGeom prst="rect">
            <a:avLst/>
          </a:prstGeom>
          <a:noFill/>
          <a:ln/>
        </p:spPr>
        <p:txBody>
          <a:bodyPr wrap="square" lIns="0" tIns="0" rIns="0" bIns="0" rtlCol="0"/>
          <a:lstStyle/>
          <a:p>
            <a:pPr indent="0" marL="0">
              <a:buNone/>
            </a:pPr>
            <a:r>
              <a:rPr lang="en-US" sz="1400" b="1" spc="200" kern="0" dirty="0">
                <a:solidFill>
                  <a:schemeClr val="accent1"/>
                </a:solidFill>
              </a:rPr>
              <a:t>WHAT'S NEXT</a:t>
            </a:r>
            <a:endParaRPr lang="en-US" sz="1400" dirty="0"/>
          </a:p>
        </p:txBody>
      </p:sp>
      <p:sp>
        <p:nvSpPr>
          <p:cNvPr id="3" name="Text 0"/>
          <p:cNvSpPr/>
          <p:nvPr>
            <p:ph idx="101" type="title" hasCustomPrompt="1"/>
          </p:nvPr>
        </p:nvSpPr>
        <p:spPr>
          <a:xfrm>
            <a:off x="685800" y="914400"/>
            <a:ext cx="10820095" cy="868680"/>
          </a:xfrm>
          <a:prstGeom prst="rect">
            <a:avLst/>
          </a:prstGeom>
          <a:noFill/>
          <a:ln/>
        </p:spPr>
        <p:txBody>
          <a:bodyPr wrap="square" lIns="0" tIns="0" rIns="0" bIns="0" rtlCol="0" anchor="t"/>
          <a:lstStyle/>
          <a:p>
            <a:pPr algn="l" indent="0" marL="0">
              <a:buNone/>
            </a:pPr>
            <a:r>
              <a:rPr lang="en-US" sz="3400" b="1" dirty="0">
                <a:solidFill>
                  <a:schemeClr val="tx1"/>
                </a:solidFill>
                <a:latin typeface="Century Gothic" pitchFamily="34" charset="0"/>
                <a:ea typeface="Century Gothic" pitchFamily="34" charset="-122"/>
                <a:cs typeface="Century Gothic" pitchFamily="34" charset="-120"/>
              </a:rPr>
              <a:t>From prototype to product</a:t>
            </a:r>
            <a:endParaRPr lang="en-US" sz="3400" dirty="0"/>
          </a:p>
        </p:txBody>
      </p:sp>
      <p:sp>
        <p:nvSpPr>
          <p:cNvPr id="4" name="Next card"/>
          <p:cNvSpPr/>
          <p:nvPr/>
        </p:nvSpPr>
        <p:spPr>
          <a:xfrm>
            <a:off x="685800" y="1965960"/>
            <a:ext cx="3454298" cy="3520440"/>
          </a:xfrm>
          <a:prstGeom prst="roundRect">
            <a:avLst>
              <a:gd name="adj" fmla="val 4235"/>
            </a:avLst>
          </a:prstGeom>
          <a:solidFill>
            <a:srgbClr val="FFFFFF"/>
          </a:solidFill>
          <a:ln w="12700">
            <a:solidFill>
              <a:srgbClr val="E7DCE5"/>
            </a:solidFill>
            <a:prstDash val="solid"/>
          </a:ln>
        </p:spPr>
      </p:sp>
      <p:sp>
        <p:nvSpPr>
          <p:cNvPr id="5" name="Next label"/>
          <p:cNvSpPr txBox="1"/>
          <p:nvPr/>
        </p:nvSpPr>
        <p:spPr>
          <a:xfrm>
            <a:off x="1005840" y="2240280"/>
            <a:ext cx="281421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NEXT</a:t>
            </a:r>
            <a:endParaRPr lang="en-US" sz="1200" dirty="0"/>
          </a:p>
        </p:txBody>
      </p:sp>
      <p:sp>
        <p:nvSpPr>
          <p:cNvPr id="6" name="Next title"/>
          <p:cNvSpPr txBox="1"/>
          <p:nvPr/>
        </p:nvSpPr>
        <p:spPr>
          <a:xfrm>
            <a:off x="1005840" y="2560320"/>
            <a:ext cx="2814218" cy="457200"/>
          </a:xfrm>
          <a:prstGeom prst="rect">
            <a:avLst/>
          </a:prstGeom>
          <a:noFill/>
          <a:ln/>
        </p:spPr>
        <p:txBody>
          <a:bodyPr wrap="square" lIns="0" tIns="0" rIns="0" bIns="0" rtlCol="0" anchor="t"/>
          <a:lstStyle/>
          <a:p>
            <a:pPr indent="0" marL="0">
              <a:buNone/>
            </a:pPr>
            <a:r>
              <a:rPr lang="en-US" sz="2200" b="1" dirty="0">
                <a:solidFill>
                  <a:schemeClr val="tx1"/>
                </a:solidFill>
                <a:latin typeface="Century Gothic" pitchFamily="34" charset="0"/>
                <a:ea typeface="Century Gothic" pitchFamily="34" charset="-122"/>
                <a:cs typeface="Century Gothic" pitchFamily="34" charset="-120"/>
              </a:rPr>
              <a:t>Go live</a:t>
            </a:r>
            <a:endParaRPr lang="en-US" sz="2200" dirty="0"/>
          </a:p>
        </p:txBody>
      </p:sp>
      <p:sp>
        <p:nvSpPr>
          <p:cNvPr id="7" name="Next items"/>
          <p:cNvSpPr txBox="1"/>
          <p:nvPr/>
        </p:nvSpPr>
        <p:spPr>
          <a:xfrm>
            <a:off x="1005840" y="3200400"/>
            <a:ext cx="2814218"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3"/>
                </a:solidFill>
              </a:rPr>
              <a:t>Real Wema connection, with consent</a:t>
            </a:r>
            <a:endParaRPr lang="en-US" sz="1600" dirty="0"/>
          </a:p>
          <a:p>
            <a:pPr marL="342900" indent="-342900">
              <a:spcAft>
                <a:spcPts val="800"/>
              </a:spcAft>
              <a:buSzPct val="100000"/>
              <a:buChar char="•"/>
            </a:pPr>
            <a:r>
              <a:rPr lang="en-US" sz="1600" dirty="0">
                <a:solidFill>
                  <a:schemeClr val="accent3"/>
                </a:solidFill>
              </a:rPr>
              <a:t>Continuous transaction sync</a:t>
            </a:r>
            <a:endParaRPr lang="en-US" sz="1600" dirty="0"/>
          </a:p>
          <a:p>
            <a:pPr marL="342900" indent="-342900">
              <a:spcAft>
                <a:spcPts val="800"/>
              </a:spcAft>
              <a:buSzPct val="100000"/>
              <a:buChar char="•"/>
            </a:pPr>
            <a:r>
              <a:rPr lang="en-US" sz="1600" dirty="0">
                <a:solidFill>
                  <a:schemeClr val="accent3"/>
                </a:solidFill>
              </a:rPr>
              <a:t>Learning tuned to each business</a:t>
            </a:r>
            <a:endParaRPr lang="en-US" sz="1600" dirty="0"/>
          </a:p>
        </p:txBody>
      </p:sp>
      <p:sp>
        <p:nvSpPr>
          <p:cNvPr id="8" name="Then card"/>
          <p:cNvSpPr/>
          <p:nvPr/>
        </p:nvSpPr>
        <p:spPr>
          <a:xfrm>
            <a:off x="4368698" y="1965960"/>
            <a:ext cx="3454298" cy="3520440"/>
          </a:xfrm>
          <a:prstGeom prst="roundRect">
            <a:avLst>
              <a:gd name="adj" fmla="val 4235"/>
            </a:avLst>
          </a:prstGeom>
          <a:solidFill>
            <a:srgbClr val="FFFFFF"/>
          </a:solidFill>
          <a:ln w="12700">
            <a:solidFill>
              <a:srgbClr val="E7DCE5"/>
            </a:solidFill>
            <a:prstDash val="solid"/>
          </a:ln>
        </p:spPr>
      </p:sp>
      <p:sp>
        <p:nvSpPr>
          <p:cNvPr id="9" name="Then label"/>
          <p:cNvSpPr txBox="1"/>
          <p:nvPr/>
        </p:nvSpPr>
        <p:spPr>
          <a:xfrm>
            <a:off x="4688738" y="2240280"/>
            <a:ext cx="281421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THEN</a:t>
            </a:r>
            <a:endParaRPr lang="en-US" sz="1200" dirty="0"/>
          </a:p>
        </p:txBody>
      </p:sp>
      <p:sp>
        <p:nvSpPr>
          <p:cNvPr id="10" name="Then title"/>
          <p:cNvSpPr txBox="1"/>
          <p:nvPr/>
        </p:nvSpPr>
        <p:spPr>
          <a:xfrm>
            <a:off x="4688738" y="2560320"/>
            <a:ext cx="2814218" cy="457200"/>
          </a:xfrm>
          <a:prstGeom prst="rect">
            <a:avLst/>
          </a:prstGeom>
          <a:noFill/>
          <a:ln/>
        </p:spPr>
        <p:txBody>
          <a:bodyPr wrap="square" lIns="0" tIns="0" rIns="0" bIns="0" rtlCol="0" anchor="t"/>
          <a:lstStyle/>
          <a:p>
            <a:pPr indent="0" marL="0">
              <a:buNone/>
            </a:pPr>
            <a:r>
              <a:rPr lang="en-US" sz="2200" b="1" dirty="0">
                <a:solidFill>
                  <a:schemeClr val="tx1"/>
                </a:solidFill>
                <a:latin typeface="Century Gothic" pitchFamily="34" charset="0"/>
                <a:ea typeface="Century Gothic" pitchFamily="34" charset="-122"/>
                <a:cs typeface="Century Gothic" pitchFamily="34" charset="-120"/>
              </a:rPr>
              <a:t>Go deeper</a:t>
            </a:r>
            <a:endParaRPr lang="en-US" sz="2200" dirty="0"/>
          </a:p>
        </p:txBody>
      </p:sp>
      <p:sp>
        <p:nvSpPr>
          <p:cNvPr id="11" name="Then items"/>
          <p:cNvSpPr txBox="1"/>
          <p:nvPr/>
        </p:nvSpPr>
        <p:spPr>
          <a:xfrm>
            <a:off x="4688738" y="3200400"/>
            <a:ext cx="2814218"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3"/>
                </a:solidFill>
              </a:rPr>
              <a:t>Supplier and stock insights</a:t>
            </a:r>
            <a:endParaRPr lang="en-US" sz="1600" dirty="0"/>
          </a:p>
          <a:p>
            <a:pPr marL="342900" indent="-342900">
              <a:spcAft>
                <a:spcPts val="800"/>
              </a:spcAft>
              <a:buSzPct val="100000"/>
              <a:buChar char="•"/>
            </a:pPr>
            <a:r>
              <a:rPr lang="en-US" sz="1600" dirty="0">
                <a:solidFill>
                  <a:schemeClr val="accent3"/>
                </a:solidFill>
              </a:rPr>
              <a:t>Scenario planning: hire, expand, restock</a:t>
            </a:r>
            <a:endParaRPr lang="en-US" sz="1600" dirty="0"/>
          </a:p>
          <a:p>
            <a:pPr marL="342900" indent="-342900">
              <a:spcAft>
                <a:spcPts val="800"/>
              </a:spcAft>
              <a:buSzPct val="100000"/>
              <a:buChar char="•"/>
            </a:pPr>
            <a:r>
              <a:rPr lang="en-US" sz="1600" dirty="0">
                <a:solidFill>
                  <a:schemeClr val="accent3"/>
                </a:solidFill>
              </a:rPr>
              <a:t>Benchmarks against similar businesses</a:t>
            </a:r>
            <a:endParaRPr lang="en-US" sz="1600" dirty="0"/>
          </a:p>
        </p:txBody>
      </p:sp>
      <p:sp>
        <p:nvSpPr>
          <p:cNvPr id="12" name="Later card"/>
          <p:cNvSpPr/>
          <p:nvPr/>
        </p:nvSpPr>
        <p:spPr>
          <a:xfrm>
            <a:off x="8051597" y="1965960"/>
            <a:ext cx="3454298" cy="3520440"/>
          </a:xfrm>
          <a:prstGeom prst="roundRect">
            <a:avLst>
              <a:gd name="adj" fmla="val 4235"/>
            </a:avLst>
          </a:prstGeom>
          <a:solidFill>
            <a:srgbClr val="FFFFFF"/>
          </a:solidFill>
          <a:ln w="12700">
            <a:solidFill>
              <a:srgbClr val="E7DCE5"/>
            </a:solidFill>
            <a:prstDash val="solid"/>
          </a:ln>
        </p:spPr>
      </p:sp>
      <p:sp>
        <p:nvSpPr>
          <p:cNvPr id="13" name="Later label"/>
          <p:cNvSpPr txBox="1"/>
          <p:nvPr/>
        </p:nvSpPr>
        <p:spPr>
          <a:xfrm>
            <a:off x="8371637" y="2240280"/>
            <a:ext cx="2814218"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LATER</a:t>
            </a:r>
            <a:endParaRPr lang="en-US" sz="1200" dirty="0"/>
          </a:p>
        </p:txBody>
      </p:sp>
      <p:sp>
        <p:nvSpPr>
          <p:cNvPr id="14" name="Later title"/>
          <p:cNvSpPr txBox="1"/>
          <p:nvPr/>
        </p:nvSpPr>
        <p:spPr>
          <a:xfrm>
            <a:off x="8371637" y="2560320"/>
            <a:ext cx="2814218" cy="457200"/>
          </a:xfrm>
          <a:prstGeom prst="rect">
            <a:avLst/>
          </a:prstGeom>
          <a:noFill/>
          <a:ln/>
        </p:spPr>
        <p:txBody>
          <a:bodyPr wrap="square" lIns="0" tIns="0" rIns="0" bIns="0" rtlCol="0" anchor="t"/>
          <a:lstStyle/>
          <a:p>
            <a:pPr indent="0" marL="0">
              <a:buNone/>
            </a:pPr>
            <a:r>
              <a:rPr lang="en-US" sz="2200" b="1" dirty="0">
                <a:solidFill>
                  <a:schemeClr val="tx1"/>
                </a:solidFill>
                <a:latin typeface="Century Gothic" pitchFamily="34" charset="0"/>
                <a:ea typeface="Century Gothic" pitchFamily="34" charset="-122"/>
                <a:cs typeface="Century Gothic" pitchFamily="34" charset="-120"/>
              </a:rPr>
              <a:t>Grow with Wema</a:t>
            </a:r>
            <a:endParaRPr lang="en-US" sz="2200" dirty="0"/>
          </a:p>
        </p:txBody>
      </p:sp>
      <p:sp>
        <p:nvSpPr>
          <p:cNvPr id="15" name="Later items"/>
          <p:cNvSpPr txBox="1"/>
          <p:nvPr/>
        </p:nvSpPr>
        <p:spPr>
          <a:xfrm>
            <a:off x="8371637" y="3200400"/>
            <a:ext cx="2814218"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3"/>
                </a:solidFill>
              </a:rPr>
              <a:t>Personalized Wema services</a:t>
            </a:r>
            <a:endParaRPr lang="en-US" sz="1600" dirty="0"/>
          </a:p>
          <a:p>
            <a:pPr marL="342900" indent="-342900">
              <a:spcAft>
                <a:spcPts val="800"/>
              </a:spcAft>
              <a:buSzPct val="100000"/>
              <a:buChar char="•"/>
            </a:pPr>
            <a:r>
              <a:rPr lang="en-US" sz="1600" dirty="0">
                <a:solidFill>
                  <a:schemeClr val="accent3"/>
                </a:solidFill>
              </a:rPr>
              <a:t>Responsible financing pathways</a:t>
            </a:r>
            <a:endParaRPr lang="en-US" sz="1600" dirty="0"/>
          </a:p>
          <a:p>
            <a:pPr marL="342900" indent="-342900">
              <a:spcAft>
                <a:spcPts val="800"/>
              </a:spcAft>
              <a:buSzPct val="100000"/>
              <a:buChar char="•"/>
            </a:pPr>
            <a:r>
              <a:rPr lang="en-US" sz="1600" dirty="0">
                <a:solidFill>
                  <a:schemeClr val="accent3"/>
                </a:solidFill>
              </a:rPr>
              <a:t>SME financial coaching</a:t>
            </a:r>
            <a:endParaRPr lang="en-US" sz="1600" dirty="0"/>
          </a:p>
        </p:txBody>
      </p:sp>
      <p:sp>
        <p:nvSpPr>
          <p:cNvPr id="25" name="Slide Number Placeholder 0"/>
          <p:cNvSpPr>
            <a:spLocks noGrp="1"/>
          </p:cNvSpPr>
          <p:nvPr>
            <p:ph type="sldNum" sz="quarter" idx="4294967295"/>
          </p:nvPr>
        </p:nvSpPr>
        <p:spPr>
          <a:xfrm>
            <a:off x="10972800" y="6263640"/>
            <a:ext cx="530352"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E63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Logo" descr="NaijaBiz IQ logo">    </p:cNvPr>
          <p:cNvPicPr>
            <a:picLocks noChangeAspect="1"/>
          </p:cNvPicPr>
          <p:nvPr/>
        </p:nvPicPr>
        <p:blipFill>
          <a:blip r:embed="rId1"/>
          <a:stretch>
            <a:fillRect/>
          </a:stretch>
        </p:blipFill>
        <p:spPr>
          <a:xfrm>
            <a:off x="685800" y="777240"/>
            <a:ext cx="685800" cy="685800"/>
          </a:xfrm>
          <a:prstGeom prst="rect">
            <a:avLst/>
          </a:prstGeom>
        </p:spPr>
      </p:pic>
      <p:sp>
        <p:nvSpPr>
          <p:cNvPr id="3" name="Closing line"/>
          <p:cNvSpPr txBox="1"/>
          <p:nvPr/>
        </p:nvSpPr>
        <p:spPr>
          <a:xfrm>
            <a:off x="685800" y="2011680"/>
            <a:ext cx="10820095" cy="1737360"/>
          </a:xfrm>
          <a:prstGeom prst="rect">
            <a:avLst/>
          </a:prstGeom>
          <a:noFill/>
          <a:ln/>
        </p:spPr>
        <p:txBody>
          <a:bodyPr wrap="square" lIns="0" tIns="0" rIns="0" bIns="0" rtlCol="0" anchor="ctr"/>
          <a:lstStyle/>
          <a:p>
            <a:pPr indent="0" marL="0">
              <a:lnSpc>
                <a:spcPct val="110000"/>
              </a:lnSpc>
              <a:buNone/>
            </a:pPr>
            <a:r>
              <a:rPr lang="en-US" sz="3800" b="1" dirty="0">
                <a:solidFill>
                  <a:schemeClr val="bg1"/>
                </a:solidFill>
                <a:latin typeface="Century Gothic" pitchFamily="34" charset="0"/>
                <a:ea typeface="Century Gothic" pitchFamily="34" charset="-122"/>
                <a:cs typeface="Century Gothic" pitchFamily="34" charset="-120"/>
              </a:rPr>
              <a:t>Wema already has the transactions.</a:t>
            </a:r>
            <a:endParaRPr lang="en-US" sz="3800" dirty="0"/>
          </a:p>
          <a:p>
            <a:pPr indent="0" marL="0">
              <a:lnSpc>
                <a:spcPct val="110000"/>
              </a:lnSpc>
              <a:buNone/>
            </a:pPr>
            <a:r>
              <a:rPr lang="en-US" sz="3800" b="1" dirty="0">
                <a:solidFill>
                  <a:schemeClr val="accent2"/>
                </a:solidFill>
                <a:latin typeface="Century Gothic" pitchFamily="34" charset="0"/>
                <a:ea typeface="Century Gothic" pitchFamily="34" charset="-122"/>
                <a:cs typeface="Century Gothic" pitchFamily="34" charset="-120"/>
              </a:rPr>
              <a:t>NaijaBiz IQ turns them into intelligence.</a:t>
            </a:r>
            <a:endParaRPr lang="en-US" sz="3800" dirty="0"/>
          </a:p>
        </p:txBody>
      </p:sp>
      <p:sp>
        <p:nvSpPr>
          <p:cNvPr id="4" name="Thanks"/>
          <p:cNvSpPr txBox="1"/>
          <p:nvPr/>
        </p:nvSpPr>
        <p:spPr>
          <a:xfrm>
            <a:off x="685800" y="4800600"/>
            <a:ext cx="6400800" cy="548640"/>
          </a:xfrm>
          <a:prstGeom prst="rect">
            <a:avLst/>
          </a:prstGeom>
          <a:noFill/>
          <a:ln/>
        </p:spPr>
        <p:txBody>
          <a:bodyPr wrap="square" lIns="0" tIns="0" rIns="0" bIns="0" rtlCol="0" anchor="t"/>
          <a:lstStyle/>
          <a:p>
            <a:pPr indent="0" marL="0">
              <a:buNone/>
            </a:pPr>
            <a:r>
              <a:rPr lang="en-US" sz="2400" b="1" dirty="0">
                <a:solidFill>
                  <a:schemeClr val="bg1"/>
                </a:solidFill>
                <a:latin typeface="Century Gothic" pitchFamily="34" charset="0"/>
                <a:ea typeface="Century Gothic" pitchFamily="34" charset="-122"/>
                <a:cs typeface="Century Gothic" pitchFamily="34" charset="-120"/>
              </a:rPr>
              <a:t>Thank you. Questions?</a:t>
            </a:r>
            <a:endParaRPr lang="en-US" sz="2400" dirty="0"/>
          </a:p>
        </p:txBody>
      </p:sp>
      <p:sp>
        <p:nvSpPr>
          <p:cNvPr id="5" name="Team"/>
          <p:cNvSpPr txBox="1"/>
          <p:nvPr/>
        </p:nvSpPr>
        <p:spPr>
          <a:xfrm>
            <a:off x="685800" y="5394960"/>
            <a:ext cx="6858000" cy="411480"/>
          </a:xfrm>
          <a:prstGeom prst="rect">
            <a:avLst/>
          </a:prstGeom>
          <a:noFill/>
          <a:ln/>
        </p:spPr>
        <p:txBody>
          <a:bodyPr wrap="square" lIns="0" tIns="0" rIns="0" bIns="0" rtlCol="0" anchor="t"/>
          <a:lstStyle/>
          <a:p>
            <a:pPr indent="0" marL="0">
              <a:buNone/>
            </a:pPr>
            <a:r>
              <a:rPr lang="en-US" sz="1400" dirty="0">
                <a:solidFill>
                  <a:srgbClr val="CDB8CA"/>
                </a:solidFill>
              </a:rPr>
              <a:t>[Team name] · [Presenter names] · [Contact]</a:t>
            </a:r>
            <a:endParaRPr lang="en-US" sz="1400" dirty="0"/>
          </a:p>
        </p:txBody>
      </p:sp>
      <p:sp>
        <p:nvSpPr>
          <p:cNvPr id="6" name="Built for card"/>
          <p:cNvSpPr/>
          <p:nvPr/>
        </p:nvSpPr>
        <p:spPr>
          <a:xfrm>
            <a:off x="9144000" y="4846320"/>
            <a:ext cx="2359152" cy="914400"/>
          </a:xfrm>
          <a:prstGeom prst="roundRect">
            <a:avLst>
              <a:gd name="adj" fmla="val 12000"/>
            </a:avLst>
          </a:prstGeom>
          <a:solidFill>
            <a:srgbClr val="FBF8FB"/>
          </a:solidFill>
          <a:ln/>
        </p:spPr>
      </p:sp>
      <p:sp>
        <p:nvSpPr>
          <p:cNvPr id="7" name="Built for"/>
          <p:cNvSpPr txBox="1"/>
          <p:nvPr/>
        </p:nvSpPr>
        <p:spPr>
          <a:xfrm>
            <a:off x="9326880" y="4846320"/>
            <a:ext cx="777240" cy="914400"/>
          </a:xfrm>
          <a:prstGeom prst="rect">
            <a:avLst/>
          </a:prstGeom>
          <a:noFill/>
          <a:ln/>
        </p:spPr>
        <p:txBody>
          <a:bodyPr wrap="square" lIns="0" tIns="0" rIns="0" bIns="0" rtlCol="0" anchor="ctr"/>
          <a:lstStyle/>
          <a:p>
            <a:pPr indent="0" marL="0">
              <a:buNone/>
            </a:pPr>
            <a:r>
              <a:rPr lang="en-US" sz="1200" dirty="0">
                <a:solidFill>
                  <a:schemeClr val="accent3"/>
                </a:solidFill>
              </a:rPr>
              <a:t>Built for</a:t>
            </a:r>
            <a:endParaRPr lang="en-US" sz="1200" dirty="0"/>
          </a:p>
        </p:txBody>
      </p:sp>
      <p:pic>
        <p:nvPicPr>
          <p:cNvPr id="8" name="Wema logo" descr="Wema Bank logo">    </p:cNvPr>
          <p:cNvPicPr>
            <a:picLocks noChangeAspect="1"/>
          </p:cNvPicPr>
          <p:nvPr/>
        </p:nvPicPr>
        <p:blipFill>
          <a:blip r:embed="rId2"/>
          <a:stretch>
            <a:fillRect/>
          </a:stretch>
        </p:blipFill>
        <p:spPr>
          <a:xfrm>
            <a:off x="10195560" y="4956048"/>
            <a:ext cx="1179576" cy="687132"/>
          </a:xfrm>
          <a:prstGeom prst="rect">
            <a:avLst/>
          </a:prstGeom>
        </p:spPr>
      </p:pic>
    </p:spTree>
  </p:cSld>
  <p:clrMapOvr>
    <a:masterClrMapping/>
  </p:clrMapOvr>
</p:sld>
</file>

<file path=ppt/theme/theme1.xml><?xml version="1.0" encoding="utf-8"?>
<a:theme xmlns:a="http://schemas.openxmlformats.org/drawingml/2006/main" name="NaijaBiz IQ">
  <a:themeElements>
    <a:clrScheme name="NaijaBiz IQ">
      <a:dk1>
        <a:srgbClr val="1E0F1D"/>
      </a:dk1>
      <a:lt1>
        <a:srgbClr val="FBF8FB"/>
      </a:lt1>
      <a:dk2>
        <a:srgbClr val="2B0F29"/>
      </a:dk2>
      <a:lt2>
        <a:srgbClr val="F4EDF3"/>
      </a:lt2>
      <a:accent1>
        <a:srgbClr val="981D87"/>
      </a:accent1>
      <a:accent2>
        <a:srgbClr val="33CBB0"/>
      </a:accent2>
      <a:accent3>
        <a:srgbClr val="4A4453"/>
      </a:accent3>
      <a:accent4>
        <a:srgbClr val="E7DCE5"/>
      </a:accent4>
      <a:accent5>
        <a:srgbClr val="FFD42D"/>
      </a:accent5>
      <a:accent6>
        <a:srgbClr val="F2A7E3"/>
      </a:accent6>
      <a:hlink>
        <a:srgbClr val="981D87"/>
      </a:hlink>
      <a:folHlink>
        <a:srgbClr val="6E6370"/>
      </a:folHlink>
    </a:clrScheme>
    <a:fontScheme name="NaijaBiz IQ">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NaijaBiz IQ — Wema Hackaholics 7.0</dc:title>
  <dc:subject>Pitch deck</dc:subject>
  <dc:creator>[Team name]</dc:creator>
  <cp:lastModifiedBy>[Team name]</cp:lastModifiedBy>
  <cp:revision>1</cp:revision>
  <dcterms:created xsi:type="dcterms:W3CDTF">2026-10-06T21:55:35Z</dcterms:created>
  <dcterms:modified xsi:type="dcterms:W3CDTF">2026-10-06T21:55:35Z</dcterms:modified>
</cp:coreProperties>
</file>